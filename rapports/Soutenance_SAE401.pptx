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2" r:id="rId6"/>
    <p:sldId id="260" r:id="rId7"/>
    <p:sldId id="263" r:id="rId8"/>
    <p:sldId id="261" r:id="rId9"/>
    <p:sldId id="265" r:id="rId10"/>
    <p:sldId id="264" r:id="rId11"/>
    <p:sldId id="266" r:id="rId12"/>
    <p:sldId id="268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8DE921-748B-7BB1-B988-36748C67DF87}" v="280" dt="2026-03-30T08:22:19.8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9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16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0B884-330A-4C8B-B29F-08E7FE54F4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2EAC06-8F5B-4FCD-A5B7-EE905A9271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A06822-F754-4710-8BDC-4FD4CD711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1A7DF-856D-46BE-9D27-5E77201F76A6}" type="datetimeFigureOut">
              <a:rPr lang="fr-FR" smtClean="0"/>
              <a:t>30/03/2026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5C1D7-85C1-474A-8B6B-57EC4570A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DCA17-0F89-4734-8830-990BF9BDD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5FDBD-3C9A-4CE1-97A3-C4FA4B02BC1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866951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5227F-5F8E-41EB-9671-3C96CFD3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8B3CE-B950-43A2-BD92-F93CF4E9F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E59EB-4E1C-47F7-8BE1-7F2ED7489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1A7DF-856D-46BE-9D27-5E77201F76A6}" type="datetimeFigureOut">
              <a:rPr lang="fr-FR" smtClean="0"/>
              <a:t>30/03/2026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7E5B2-C8CE-42D3-A0E8-C5E7B68F6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4D693-93AC-406F-9D61-B6AC47717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5FDBD-3C9A-4CE1-97A3-C4FA4B02BC1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568608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9F942-3925-43A9-82B5-F18A41C81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9E754C-605D-48FE-90B2-C68140D883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DD0FB-7ECD-4376-B0BE-5B6FC9A56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1A7DF-856D-46BE-9D27-5E77201F76A6}" type="datetimeFigureOut">
              <a:rPr lang="fr-FR" smtClean="0"/>
              <a:t>30/03/2026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54CE6-045E-4445-B052-D21423552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D0218-E3C4-446A-82EA-9A5194A79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5FDBD-3C9A-4CE1-97A3-C4FA4B02BC1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484333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CAD9D-660D-4E5B-BC4B-35DC61617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6F367-87CF-4EAD-B113-2F96CA6BD5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C59E2E-98B6-4835-9AD6-CFA9004D1B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834426-A61C-4BF1-B85A-0D528D642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1A7DF-856D-46BE-9D27-5E77201F76A6}" type="datetimeFigureOut">
              <a:rPr lang="fr-FR" smtClean="0"/>
              <a:t>30/03/2026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0A74B5-1E20-471D-9383-6734D40BC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CBEE6D-0548-42D2-BAA4-1BE3D85A9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5FDBD-3C9A-4CE1-97A3-C4FA4B02BC1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920124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16CE1-79BD-446A-813A-F311AC0BF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D6E95B-36FB-478E-8C09-C0B7FC52C0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D17655-6132-4727-974B-A8D5F4941B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AE983B-A39B-41CF-8518-3339839BE1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C1A0BC-0512-4DFE-AFF3-327FD8B901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0D5366-A311-4DD8-9BB3-50EF31827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1A7DF-856D-46BE-9D27-5E77201F76A6}" type="datetimeFigureOut">
              <a:rPr lang="fr-FR" smtClean="0"/>
              <a:t>30/03/2026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9D1726-60D9-440B-BA53-3890BE402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9C15A2-6498-400F-90A8-6A2565BC4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5FDBD-3C9A-4CE1-97A3-C4FA4B02BC1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016477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4FD6-416C-4496-A2BF-3B52544BF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2B082F-1841-4AF6-8AFA-70AB68AEE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1A7DF-856D-46BE-9D27-5E77201F76A6}" type="datetimeFigureOut">
              <a:rPr lang="fr-FR" smtClean="0"/>
              <a:t>30/03/2026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B86A16-97B1-4880-B617-9FC751AD6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A2C394-24BC-48DF-9AB2-E7C805EB1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5FDBD-3C9A-4CE1-97A3-C4FA4B02BC1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38475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E459D4-DBD8-41D4-80AD-68B000543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1A7DF-856D-46BE-9D27-5E77201F76A6}" type="datetimeFigureOut">
              <a:rPr lang="fr-FR" smtClean="0"/>
              <a:t>30/03/2026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A13DE6-EC8B-4DD9-B535-55FF1E38E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00CFB6-F47F-45D7-B574-F72BCE70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5FDBD-3C9A-4CE1-97A3-C4FA4B02BC1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133369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A3EDA-52CF-43D8-A4F3-B663EC88F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C42B8-96F3-45B4-848E-B30A81CCB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A05B6E-2C65-400C-8BF6-4C3BF2116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FAFB9D-EC23-48E9-96B4-CF4EDB383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1A7DF-856D-46BE-9D27-5E77201F76A6}" type="datetimeFigureOut">
              <a:rPr lang="fr-FR" smtClean="0"/>
              <a:t>30/03/2026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40E5B6-A2EF-4530-878F-166934761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B01BC-FF1B-43F7-BE20-DE1B8F1A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5FDBD-3C9A-4CE1-97A3-C4FA4B02BC1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406246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E9FC2-76F7-4DEF-BFEC-5C17F739C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07CFDE-9FB4-439B-835C-12F9E9B173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C5CD65-F0B8-44D0-BB81-DAE314C0DB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17ABD6-7F7A-43EA-99A7-E94EEA412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1A7DF-856D-46BE-9D27-5E77201F76A6}" type="datetimeFigureOut">
              <a:rPr lang="fr-FR" smtClean="0"/>
              <a:t>30/03/2026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6CDA17-DB75-4E4D-AB7E-651169E56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A00D66-35F7-4D24-ABEE-F95DEB7FD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5FDBD-3C9A-4CE1-97A3-C4FA4B02BC1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180875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07355-5DAC-4CE6-ACE3-3983D9D69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C8194B-0015-4BC5-A389-290F4F81D7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9F723-E0FB-410C-92B9-943766F12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1A7DF-856D-46BE-9D27-5E77201F76A6}" type="datetimeFigureOut">
              <a:rPr lang="fr-FR" smtClean="0"/>
              <a:t>30/03/2026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BD562-7EED-405F-8E29-999D9C29A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B2F50-41D5-42E8-8DD7-0F052CA7F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5FDBD-3C9A-4CE1-97A3-C4FA4B02BC1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64595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649C12-CB03-4D58-B7B3-BD5FE45CDA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E4BA2E-1EC6-4F96-AE71-4660153414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8978A-A2CB-4C56-9A38-D902F79FA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1A7DF-856D-46BE-9D27-5E77201F76A6}" type="datetimeFigureOut">
              <a:rPr lang="fr-FR" smtClean="0"/>
              <a:t>30/03/2026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C2EF97-A7FD-4E98-98D9-2734F0C6B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B88495-87A1-4B44-BFFE-0150DFDF9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5FDBD-3C9A-4CE1-97A3-C4FA4B02BC1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6138697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5DB927-699A-43A2-8975-99FD17C70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6FEDFD-7AE5-4F29-8575-F89A404AB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93ECF-7922-437E-AC8E-7F2A482687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91A7DF-856D-46BE-9D27-5E77201F76A6}" type="datetimeFigureOut">
              <a:rPr lang="fr-FR" smtClean="0"/>
              <a:t>30/03/2026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EBF93-D06C-47A3-8C1F-EF6C174E65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BD07D-185C-49EE-81EB-2445B400C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B5FDBD-3C9A-4CE1-97A3-C4FA4B02BC1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3911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5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2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5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32.png"/><Relationship Id="rId5" Type="http://schemas.openxmlformats.org/officeDocument/2006/relationships/image" Target="../media/image27.png"/><Relationship Id="rId10" Type="http://schemas.openxmlformats.org/officeDocument/2006/relationships/image" Target="../media/image31.png"/><Relationship Id="rId4" Type="http://schemas.openxmlformats.org/officeDocument/2006/relationships/image" Target="../media/image2.png"/><Relationship Id="rId9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36.png"/><Relationship Id="rId3" Type="http://schemas.openxmlformats.org/officeDocument/2006/relationships/image" Target="../media/image5.png"/><Relationship Id="rId7" Type="http://schemas.openxmlformats.org/officeDocument/2006/relationships/image" Target="../media/image17.png"/><Relationship Id="rId12" Type="http://schemas.openxmlformats.org/officeDocument/2006/relationships/image" Target="../media/image3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34.png"/><Relationship Id="rId5" Type="http://schemas.openxmlformats.org/officeDocument/2006/relationships/image" Target="../media/image15.png"/><Relationship Id="rId15" Type="http://schemas.openxmlformats.org/officeDocument/2006/relationships/image" Target="../media/image38.png"/><Relationship Id="rId10" Type="http://schemas.openxmlformats.org/officeDocument/2006/relationships/image" Target="../media/image18.png"/><Relationship Id="rId4" Type="http://schemas.openxmlformats.org/officeDocument/2006/relationships/image" Target="../media/image2.png"/><Relationship Id="rId9" Type="http://schemas.openxmlformats.org/officeDocument/2006/relationships/image" Target="../media/image20.png"/><Relationship Id="rId14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5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27.png"/><Relationship Id="rId10" Type="http://schemas.openxmlformats.org/officeDocument/2006/relationships/image" Target="../media/image43.png"/><Relationship Id="rId4" Type="http://schemas.openxmlformats.org/officeDocument/2006/relationships/image" Target="../media/image2.png"/><Relationship Id="rId9" Type="http://schemas.openxmlformats.org/officeDocument/2006/relationships/image" Target="../media/image4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6.png"/><Relationship Id="rId3" Type="http://schemas.openxmlformats.org/officeDocument/2006/relationships/image" Target="../media/image5.png"/><Relationship Id="rId7" Type="http://schemas.openxmlformats.org/officeDocument/2006/relationships/image" Target="../media/image41.png"/><Relationship Id="rId12" Type="http://schemas.openxmlformats.org/officeDocument/2006/relationships/image" Target="../media/image4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7.png"/><Relationship Id="rId5" Type="http://schemas.openxmlformats.org/officeDocument/2006/relationships/image" Target="../media/image27.png"/><Relationship Id="rId10" Type="http://schemas.openxmlformats.org/officeDocument/2006/relationships/image" Target="../media/image44.png"/><Relationship Id="rId4" Type="http://schemas.openxmlformats.org/officeDocument/2006/relationships/image" Target="../media/image2.png"/><Relationship Id="rId9" Type="http://schemas.openxmlformats.org/officeDocument/2006/relationships/image" Target="../media/image4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18" Type="http://schemas.openxmlformats.org/officeDocument/2006/relationships/image" Target="../media/image61.png"/><Relationship Id="rId3" Type="http://schemas.openxmlformats.org/officeDocument/2006/relationships/image" Target="../media/image5.png"/><Relationship Id="rId21" Type="http://schemas.openxmlformats.org/officeDocument/2006/relationships/image" Target="../media/image46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17" Type="http://schemas.openxmlformats.org/officeDocument/2006/relationships/image" Target="../media/image60.png"/><Relationship Id="rId2" Type="http://schemas.openxmlformats.org/officeDocument/2006/relationships/image" Target="../media/image26.png"/><Relationship Id="rId16" Type="http://schemas.openxmlformats.org/officeDocument/2006/relationships/image" Target="../media/image59.png"/><Relationship Id="rId20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27.png"/><Relationship Id="rId15" Type="http://schemas.openxmlformats.org/officeDocument/2006/relationships/image" Target="../media/image58.png"/><Relationship Id="rId10" Type="http://schemas.openxmlformats.org/officeDocument/2006/relationships/image" Target="../media/image53.png"/><Relationship Id="rId19" Type="http://schemas.openxmlformats.org/officeDocument/2006/relationships/image" Target="../media/image62.png"/><Relationship Id="rId4" Type="http://schemas.openxmlformats.org/officeDocument/2006/relationships/image" Target="../media/image2.png"/><Relationship Id="rId9" Type="http://schemas.openxmlformats.org/officeDocument/2006/relationships/image" Target="../media/image52.png"/><Relationship Id="rId14" Type="http://schemas.openxmlformats.org/officeDocument/2006/relationships/image" Target="../media/image5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5.png"/><Relationship Id="rId7" Type="http://schemas.openxmlformats.org/officeDocument/2006/relationships/image" Target="../media/image6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2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7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11" Type="http://schemas.openxmlformats.org/officeDocument/2006/relationships/image" Target="../media/image70.png"/><Relationship Id="rId5" Type="http://schemas.openxmlformats.org/officeDocument/2006/relationships/image" Target="../media/image27.png"/><Relationship Id="rId10" Type="http://schemas.openxmlformats.org/officeDocument/2006/relationships/image" Target="../media/image69.png"/><Relationship Id="rId4" Type="http://schemas.openxmlformats.org/officeDocument/2006/relationships/image" Target="../media/image2.png"/><Relationship Id="rId9" Type="http://schemas.openxmlformats.org/officeDocument/2006/relationships/image" Target="../media/image68.png"/><Relationship Id="rId14" Type="http://schemas.openxmlformats.org/officeDocument/2006/relationships/image" Target="../media/image7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H3k51tPA36Q?feature=oembed" TargetMode="External"/><Relationship Id="rId6" Type="http://schemas.openxmlformats.org/officeDocument/2006/relationships/image" Target="../media/image74.jpeg"/><Relationship Id="rId5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DC54A26-8164-40AB-A646-240DAC04D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898" y="0"/>
            <a:ext cx="6014696" cy="68605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1EB293-377B-4544-AF9B-5C0FA2401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288897" cy="68580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109CF9-9C8F-48C2-B494-87900DAF3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525737"/>
            <a:ext cx="4152900" cy="43946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447DA36-2B24-476F-976F-91415A073C17}"/>
              </a:ext>
            </a:extLst>
          </p:cNvPr>
          <p:cNvSpPr txBox="1"/>
          <p:nvPr/>
        </p:nvSpPr>
        <p:spPr>
          <a:xfrm>
            <a:off x="660400" y="1143000"/>
            <a:ext cx="44831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 dirty="0">
                <a:solidFill>
                  <a:schemeClr val="bg1"/>
                </a:solidFill>
                <a:latin typeface="Bahnschrift" panose="020B0502040204020203" pitchFamily="34" charset="0"/>
              </a:rPr>
              <a:t>BouzuSec</a:t>
            </a:r>
          </a:p>
          <a:p>
            <a:r>
              <a:rPr lang="fr-FR" sz="6000" b="1" dirty="0">
                <a:solidFill>
                  <a:schemeClr val="accent2"/>
                </a:solidFill>
                <a:latin typeface="Bahnschrift" panose="020B0502040204020203" pitchFamily="34" charset="0"/>
              </a:rPr>
              <a:t>Scanner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EE6B2E-0187-4E6C-BFAB-4A9E9CFC2CD1}"/>
              </a:ext>
            </a:extLst>
          </p:cNvPr>
          <p:cNvSpPr txBox="1"/>
          <p:nvPr/>
        </p:nvSpPr>
        <p:spPr>
          <a:xfrm>
            <a:off x="660400" y="4680432"/>
            <a:ext cx="4483100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700" i="1" dirty="0">
                <a:solidFill>
                  <a:schemeClr val="bg1"/>
                </a:solidFill>
                <a:latin typeface="Bahnschrift" panose="020B0502040204020203" pitchFamily="34" charset="0"/>
              </a:rPr>
              <a:t>Johan Abdallah</a:t>
            </a:r>
          </a:p>
          <a:p>
            <a:r>
              <a:rPr lang="fr-FR" sz="1700" i="1" dirty="0">
                <a:solidFill>
                  <a:schemeClr val="bg1"/>
                </a:solidFill>
                <a:latin typeface="Bahnschrift" panose="020B0502040204020203" pitchFamily="34" charset="0"/>
              </a:rPr>
              <a:t>Mohamed </a:t>
            </a:r>
            <a:r>
              <a:rPr lang="fr-FR" sz="1700" i="1" dirty="0" err="1">
                <a:solidFill>
                  <a:schemeClr val="bg1"/>
                </a:solidFill>
                <a:latin typeface="Bahnschrift" panose="020B0502040204020203" pitchFamily="34" charset="0"/>
              </a:rPr>
              <a:t>Droussi</a:t>
            </a:r>
            <a:endParaRPr lang="fr-FR" sz="1700" i="1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r>
              <a:rPr lang="fr-FR" sz="1700" i="1" dirty="0">
                <a:solidFill>
                  <a:schemeClr val="bg1"/>
                </a:solidFill>
                <a:latin typeface="Bahnschrift" panose="020B0502040204020203" pitchFamily="34" charset="0"/>
              </a:rPr>
              <a:t>Alexandre </a:t>
            </a:r>
            <a:r>
              <a:rPr lang="fr-FR" sz="1700" i="1" dirty="0" err="1">
                <a:solidFill>
                  <a:schemeClr val="bg1"/>
                </a:solidFill>
                <a:latin typeface="Bahnschrift" panose="020B0502040204020203" pitchFamily="34" charset="0"/>
              </a:rPr>
              <a:t>Samperez</a:t>
            </a:r>
            <a:endParaRPr lang="fr-FR" sz="1700" i="1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r>
              <a:rPr lang="fr-FR" sz="1700" i="1" dirty="0">
                <a:solidFill>
                  <a:schemeClr val="bg1"/>
                </a:solidFill>
                <a:latin typeface="Bahnschrift" panose="020B0502040204020203" pitchFamily="34" charset="0"/>
              </a:rPr>
              <a:t>Walid </a:t>
            </a:r>
            <a:r>
              <a:rPr lang="fr-FR" sz="1700" i="1" dirty="0" err="1">
                <a:solidFill>
                  <a:schemeClr val="bg1"/>
                </a:solidFill>
                <a:latin typeface="Bahnschrift" panose="020B0502040204020203" pitchFamily="34" charset="0"/>
              </a:rPr>
              <a:t>Badaoui</a:t>
            </a:r>
            <a:r>
              <a:rPr lang="fr-FR" sz="1700" i="1" dirty="0">
                <a:solidFill>
                  <a:schemeClr val="bg1"/>
                </a:solidFill>
                <a:latin typeface="Bahnschrift" panose="020B0502040204020203" pitchFamily="34" charset="0"/>
              </a:rPr>
              <a:t>	</a:t>
            </a:r>
          </a:p>
          <a:p>
            <a:r>
              <a:rPr lang="fr-FR" sz="1700" i="1" dirty="0">
                <a:solidFill>
                  <a:schemeClr val="bg1"/>
                </a:solidFill>
                <a:latin typeface="Bahnschrift" panose="020B0502040204020203" pitchFamily="34" charset="0"/>
              </a:rPr>
              <a:t>Nicolas Nonnenmacher</a:t>
            </a:r>
            <a:endParaRPr lang="fr-FR" sz="1700" i="1" dirty="0">
              <a:solidFill>
                <a:schemeClr val="accent2"/>
              </a:solidFill>
              <a:latin typeface="Bahnschrift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4BC312-7460-47AC-9578-50ABE80FE7AE}"/>
              </a:ext>
            </a:extLst>
          </p:cNvPr>
          <p:cNvSpPr txBox="1"/>
          <p:nvPr/>
        </p:nvSpPr>
        <p:spPr>
          <a:xfrm>
            <a:off x="1455722" y="568496"/>
            <a:ext cx="25622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bg1"/>
                </a:solidFill>
                <a:latin typeface="Bahnschrift" panose="020B0502040204020203" pitchFamily="34" charset="0"/>
              </a:rPr>
              <a:t>SOUTENANCE – SAE 401</a:t>
            </a:r>
            <a:endParaRPr lang="fr-FR" sz="1600" b="1" dirty="0">
              <a:solidFill>
                <a:schemeClr val="accent2"/>
              </a:solidFill>
              <a:latin typeface="Bahnschrift" panose="020B0502040204020203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7C5ECA5-10B1-49EF-8767-9075DC19FE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3593" y="0"/>
            <a:ext cx="5880485" cy="68580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075AB46-3315-4950-B3A5-FA693E094EA9}"/>
              </a:ext>
            </a:extLst>
          </p:cNvPr>
          <p:cNvSpPr txBox="1"/>
          <p:nvPr/>
        </p:nvSpPr>
        <p:spPr>
          <a:xfrm>
            <a:off x="660400" y="3681157"/>
            <a:ext cx="4483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  <a:latin typeface="Bahnschrift" panose="020B0502040204020203" pitchFamily="34" charset="0"/>
              </a:rPr>
              <a:t>Présenté par : </a:t>
            </a:r>
            <a:r>
              <a:rPr lang="fr-FR" sz="2000" dirty="0" err="1">
                <a:solidFill>
                  <a:schemeClr val="bg1"/>
                </a:solidFill>
                <a:latin typeface="Bahnschrift" panose="020B0502040204020203" pitchFamily="34" charset="0"/>
              </a:rPr>
              <a:t>BouzuCorp</a:t>
            </a:r>
            <a:endParaRPr lang="fr-FR" sz="2000" dirty="0">
              <a:solidFill>
                <a:schemeClr val="accent2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4166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ADC1D4D9-73B2-4CFB-850E-4DE61C39C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01696"/>
            <a:ext cx="12191999" cy="59550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76E36C-C0DF-4815-B697-1FCB15E2C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896" y="0"/>
            <a:ext cx="11903103" cy="901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36BF5D-F014-463C-9C93-5AE15B2CB6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-1"/>
            <a:ext cx="288896" cy="9017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BC68A6A-EA3F-4911-9480-30B35DEE8F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896" y="1114404"/>
            <a:ext cx="5311804" cy="6286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704E7F3-7083-4657-BEBC-A0E51EDB10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1300" y="1114404"/>
            <a:ext cx="5311804" cy="62866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A632A79-5A72-4289-AC42-1398C5BC6AED}"/>
              </a:ext>
            </a:extLst>
          </p:cNvPr>
          <p:cNvSpPr txBox="1"/>
          <p:nvPr/>
        </p:nvSpPr>
        <p:spPr>
          <a:xfrm>
            <a:off x="393700" y="220016"/>
            <a:ext cx="873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bg1"/>
                </a:solidFill>
                <a:latin typeface="Bahnschrift" panose="020B0502040204020203" pitchFamily="34" charset="0"/>
              </a:rPr>
              <a:t>LE CONSTAT : UNE SECURITE OPAQUE ET COMPLEXE</a:t>
            </a:r>
            <a:endParaRPr lang="fr-FR" sz="2400" b="1" dirty="0">
              <a:solidFill>
                <a:schemeClr val="accent2"/>
              </a:solidFill>
              <a:latin typeface="Bahnschrift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0771F8-9C4C-41B1-B233-500C3088359E}"/>
              </a:ext>
            </a:extLst>
          </p:cNvPr>
          <p:cNvSpPr txBox="1"/>
          <p:nvPr/>
        </p:nvSpPr>
        <p:spPr>
          <a:xfrm>
            <a:off x="679450" y="1244070"/>
            <a:ext cx="378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  <a:latin typeface="Bahnschrift" panose="020B0502040204020203" pitchFamily="34" charset="0"/>
              </a:rPr>
              <a:t>Le problème aujourd’hui</a:t>
            </a:r>
            <a:endParaRPr lang="fr-FR" dirty="0">
              <a:solidFill>
                <a:schemeClr val="accent2"/>
              </a:solidFill>
              <a:latin typeface="Bahnschrift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F76A6E-B3DE-465B-BCE9-466673EFEE20}"/>
              </a:ext>
            </a:extLst>
          </p:cNvPr>
          <p:cNvSpPr txBox="1"/>
          <p:nvPr/>
        </p:nvSpPr>
        <p:spPr>
          <a:xfrm>
            <a:off x="6934200" y="1244070"/>
            <a:ext cx="378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  <a:latin typeface="Bahnschrift" panose="020B0502040204020203" pitchFamily="34" charset="0"/>
              </a:rPr>
              <a:t>Notre réponse : BouzuSec</a:t>
            </a:r>
            <a:endParaRPr lang="fr-FR" dirty="0">
              <a:solidFill>
                <a:schemeClr val="accent2"/>
              </a:solidFill>
              <a:latin typeface="Bahnschrift" panose="020B0502040204020203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951E306-B35D-4B84-B138-2CF037B0C2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8894" y="1743068"/>
            <a:ext cx="5311803" cy="477203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93FC12F-60D4-4A80-9264-C9BFB377C2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1301" y="1743068"/>
            <a:ext cx="5311803" cy="477203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34B0DA1-72CB-4FE4-9714-214C2B6D180D}"/>
              </a:ext>
            </a:extLst>
          </p:cNvPr>
          <p:cNvSpPr txBox="1"/>
          <p:nvPr/>
        </p:nvSpPr>
        <p:spPr>
          <a:xfrm>
            <a:off x="393700" y="1862135"/>
            <a:ext cx="50927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Bahnschrift" panose="020B0502040204020203" pitchFamily="34" charset="0"/>
              </a:rPr>
              <a:t>Nessus, Qualys : licences chères</a:t>
            </a:r>
          </a:p>
          <a:p>
            <a:endParaRPr lang="fr-FR" sz="1600" dirty="0">
              <a:latin typeface="Bahnschrift" panose="020B0502040204020203" pitchFamily="34" charset="0"/>
            </a:endParaRPr>
          </a:p>
          <a:p>
            <a:r>
              <a:rPr lang="fr-FR" sz="1600" dirty="0">
                <a:latin typeface="Bahnschrift" panose="020B0502040204020203" pitchFamily="34" charset="0"/>
              </a:rPr>
              <a:t>Rapports 50+ pages illisibles pour un non-expert</a:t>
            </a:r>
          </a:p>
          <a:p>
            <a:endParaRPr lang="fr-FR" sz="1600" dirty="0">
              <a:latin typeface="Bahnschrift" panose="020B0502040204020203" pitchFamily="34" charset="0"/>
            </a:endParaRPr>
          </a:p>
          <a:p>
            <a:r>
              <a:rPr lang="fr-FR" sz="1600" i="1" dirty="0">
                <a:solidFill>
                  <a:srgbClr val="FF0000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 Les dirigeants ne comprennent pas leur niveau de risque !!!</a:t>
            </a:r>
            <a:endParaRPr lang="fr-FR" sz="1600" i="1" dirty="0">
              <a:solidFill>
                <a:srgbClr val="FF0000"/>
              </a:solidFill>
              <a:latin typeface="Bahnschrift" panose="020B0502040204020203" pitchFamily="34" charset="0"/>
            </a:endParaRPr>
          </a:p>
        </p:txBody>
      </p:sp>
      <p:pic>
        <p:nvPicPr>
          <p:cNvPr id="1030" name="Picture 6" descr="Évaluation des vulnérabilités avancée avec Nessus Professional | Tenable®">
            <a:extLst>
              <a:ext uri="{FF2B5EF4-FFF2-40B4-BE49-F238E27FC236}">
                <a16:creationId xmlns:a16="http://schemas.microsoft.com/office/drawing/2014/main" id="{E183592D-351C-4EAB-BC2E-2EA7DD422C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891" y="3410150"/>
            <a:ext cx="2992052" cy="1704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Qualys Web Application Security and Scanning Solutions">
            <a:extLst>
              <a:ext uri="{FF2B5EF4-FFF2-40B4-BE49-F238E27FC236}">
                <a16:creationId xmlns:a16="http://schemas.microsoft.com/office/drawing/2014/main" id="{77F851A4-BBA0-49BA-B02F-1A8A577F65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1833" y="4686151"/>
            <a:ext cx="2894567" cy="1828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0522956-DDA1-419E-A80C-A165E0778CAE}"/>
              </a:ext>
            </a:extLst>
          </p:cNvPr>
          <p:cNvSpPr txBox="1"/>
          <p:nvPr/>
        </p:nvSpPr>
        <p:spPr>
          <a:xfrm>
            <a:off x="3361143" y="3967545"/>
            <a:ext cx="13939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rgbClr val="FF0000"/>
                </a:solidFill>
                <a:latin typeface="Bahnschrift" panose="020B0502040204020203" pitchFamily="34" charset="0"/>
              </a:rPr>
              <a:t>?????????????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778529-1729-4308-815E-78354ECDBB3E}"/>
              </a:ext>
            </a:extLst>
          </p:cNvPr>
          <p:cNvSpPr txBox="1"/>
          <p:nvPr/>
        </p:nvSpPr>
        <p:spPr>
          <a:xfrm>
            <a:off x="1083625" y="5574318"/>
            <a:ext cx="13939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rgbClr val="FF0000"/>
                </a:solidFill>
                <a:latin typeface="Bahnschrift" panose="020B0502040204020203" pitchFamily="34" charset="0"/>
              </a:rPr>
              <a:t>?????????????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C0D6D98-BB01-4CF2-916E-3FE9A19121E1}"/>
              </a:ext>
            </a:extLst>
          </p:cNvPr>
          <p:cNvSpPr txBox="1"/>
          <p:nvPr/>
        </p:nvSpPr>
        <p:spPr>
          <a:xfrm>
            <a:off x="6681801" y="1862135"/>
            <a:ext cx="50927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Bahnschrift" panose="020B0502040204020203" pitchFamily="34" charset="0"/>
              </a:rPr>
              <a:t>100% open-source – Gratuit – 3 commandes Docker</a:t>
            </a:r>
          </a:p>
          <a:p>
            <a:endParaRPr lang="fr-FR" sz="1600" dirty="0">
              <a:latin typeface="Bahnschrift" panose="020B0502040204020203" pitchFamily="34" charset="0"/>
            </a:endParaRPr>
          </a:p>
          <a:p>
            <a:r>
              <a:rPr lang="fr-FR" sz="1600" dirty="0">
                <a:latin typeface="Bahnschrift" panose="020B0502040204020203" pitchFamily="34" charset="0"/>
              </a:rPr>
              <a:t>Rapports PDF compréhensible en 2 minutes par tout dirigeant</a:t>
            </a:r>
          </a:p>
          <a:p>
            <a:endParaRPr lang="fr-FR" sz="1600" dirty="0">
              <a:latin typeface="Bahnschrift" panose="020B0502040204020203" pitchFamily="34" charset="0"/>
            </a:endParaRPr>
          </a:p>
          <a:p>
            <a:r>
              <a:rPr lang="fr-FR" sz="1600" i="1" dirty="0">
                <a:solidFill>
                  <a:srgbClr val="00B050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 Pensé comme WooRank, mais pour la sécurité</a:t>
            </a:r>
            <a:endParaRPr lang="fr-FR" sz="1600" i="1" dirty="0">
              <a:solidFill>
                <a:srgbClr val="00B050"/>
              </a:solidFill>
              <a:latin typeface="Bahnschrift" panose="020B0502040204020203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86133D9-08BF-46D9-B340-17FB6233EC5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36435" y="3406530"/>
            <a:ext cx="2666669" cy="170840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FED8296-B422-4EDB-BCDD-DC4A8E1A277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81802" y="4563045"/>
            <a:ext cx="3061666" cy="1604452"/>
          </a:xfrm>
          <a:prstGeom prst="rect">
            <a:avLst/>
          </a:prstGeom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24868683-1DEB-400E-AA4F-AC391A4DF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3013" y="3680535"/>
            <a:ext cx="792211" cy="633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12">
            <a:extLst>
              <a:ext uri="{FF2B5EF4-FFF2-40B4-BE49-F238E27FC236}">
                <a16:creationId xmlns:a16="http://schemas.microsoft.com/office/drawing/2014/main" id="{4ADC9997-7322-4759-82B6-3B9C083135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3663" y="5426711"/>
            <a:ext cx="792211" cy="633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Croix Rouge PNG pour téléchargement gratuit">
            <a:extLst>
              <a:ext uri="{FF2B5EF4-FFF2-40B4-BE49-F238E27FC236}">
                <a16:creationId xmlns:a16="http://schemas.microsoft.com/office/drawing/2014/main" id="{DAC1D731-11EB-412C-9A2F-3E80A7A6A4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655" y="3737294"/>
            <a:ext cx="646329" cy="646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18" descr="Croix Rouge PNG pour téléchargement gratuit">
            <a:extLst>
              <a:ext uri="{FF2B5EF4-FFF2-40B4-BE49-F238E27FC236}">
                <a16:creationId xmlns:a16="http://schemas.microsoft.com/office/drawing/2014/main" id="{3DB6D45D-3D34-45DC-A60F-CBC389ED8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294" y="5426711"/>
            <a:ext cx="646329" cy="646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82572563-6332-47BA-B7DC-70420C4A4AB6}"/>
              </a:ext>
            </a:extLst>
          </p:cNvPr>
          <p:cNvSpPr txBox="1"/>
          <p:nvPr/>
        </p:nvSpPr>
        <p:spPr>
          <a:xfrm>
            <a:off x="1162426" y="4953098"/>
            <a:ext cx="1236307" cy="401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fr-FR" sz="1200" i="1" u="sng" dirty="0">
                <a:latin typeface="Bahnschrift" panose="020B0502040204020203" pitchFamily="34" charset="0"/>
              </a:rPr>
              <a:t>Scan Nessus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B04796-3BC2-4B20-B424-F554600D0601}"/>
              </a:ext>
            </a:extLst>
          </p:cNvPr>
          <p:cNvSpPr txBox="1"/>
          <p:nvPr/>
        </p:nvSpPr>
        <p:spPr>
          <a:xfrm>
            <a:off x="3681198" y="4485615"/>
            <a:ext cx="1236307" cy="401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fr-FR" sz="1200" i="1" u="sng" dirty="0">
                <a:latin typeface="Bahnschrift" panose="020B0502040204020203" pitchFamily="34" charset="0"/>
              </a:rPr>
              <a:t>Scan Qualys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7B05123-DFF3-4DBC-BE09-711E880FB243}"/>
              </a:ext>
            </a:extLst>
          </p:cNvPr>
          <p:cNvSpPr txBox="1"/>
          <p:nvPr/>
        </p:nvSpPr>
        <p:spPr>
          <a:xfrm>
            <a:off x="10434088" y="4894721"/>
            <a:ext cx="1236307" cy="401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fr-FR" sz="1200" i="1" u="sng" dirty="0">
                <a:latin typeface="Bahnschrift" panose="020B0502040204020203" pitchFamily="34" charset="0"/>
              </a:rPr>
              <a:t>Scan WooRank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2B4C18D-D7F3-493B-AF40-C3B2991D348B}"/>
              </a:ext>
            </a:extLst>
          </p:cNvPr>
          <p:cNvSpPr txBox="1"/>
          <p:nvPr/>
        </p:nvSpPr>
        <p:spPr>
          <a:xfrm>
            <a:off x="7309687" y="4211052"/>
            <a:ext cx="1571212" cy="401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fr-FR" sz="1200" i="1" u="sng" dirty="0">
                <a:latin typeface="Bahnschrift" panose="020B0502040204020203" pitchFamily="34" charset="0"/>
              </a:rPr>
              <a:t>Interface BouzuSec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355E40-320E-938C-7D9D-CE390795C0DE}"/>
              </a:ext>
            </a:extLst>
          </p:cNvPr>
          <p:cNvSpPr txBox="1"/>
          <p:nvPr/>
        </p:nvSpPr>
        <p:spPr>
          <a:xfrm>
            <a:off x="11542980" y="6511636"/>
            <a:ext cx="274319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2/12</a:t>
            </a:r>
          </a:p>
        </p:txBody>
      </p:sp>
    </p:spTree>
    <p:extLst>
      <p:ext uri="{BB962C8B-B14F-4D97-AF65-F5344CB8AC3E}">
        <p14:creationId xmlns:p14="http://schemas.microsoft.com/office/powerpoint/2010/main" val="776119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6650C91-6A91-4EEC-8593-FCA45D084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01696"/>
            <a:ext cx="12191999" cy="59550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76E36C-C0DF-4815-B697-1FCB15E2C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896" y="0"/>
            <a:ext cx="11903103" cy="901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36BF5D-F014-463C-9C93-5AE15B2CB6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-1"/>
            <a:ext cx="288896" cy="9017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A632A79-5A72-4289-AC42-1398C5BC6AED}"/>
              </a:ext>
            </a:extLst>
          </p:cNvPr>
          <p:cNvSpPr txBox="1"/>
          <p:nvPr/>
        </p:nvSpPr>
        <p:spPr>
          <a:xfrm>
            <a:off x="393700" y="220016"/>
            <a:ext cx="873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bg1"/>
                </a:solidFill>
                <a:latin typeface="Bahnschrift" panose="020B0502040204020203" pitchFamily="34" charset="0"/>
              </a:rPr>
              <a:t>ORGANISATION DE L’EQUIPE</a:t>
            </a:r>
            <a:endParaRPr lang="fr-FR" sz="2400" b="1" dirty="0">
              <a:solidFill>
                <a:schemeClr val="accent2"/>
              </a:solidFill>
              <a:latin typeface="Bahnschrift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B66C4B-2721-4F12-A3F4-FF3A322C6A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697" y="1121713"/>
            <a:ext cx="2073304" cy="53658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2BBD076-B3E5-41BE-919F-61E1FBB1CC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4797" y="1121713"/>
            <a:ext cx="2073304" cy="53658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9EBCFE7-1968-4375-AD3A-A36AA84C2A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1897" y="1121713"/>
            <a:ext cx="2073304" cy="53658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A4928C4-5576-4CF7-A0ED-069EC2BBE5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8997" y="1121713"/>
            <a:ext cx="2073304" cy="53658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F428D9B-3E55-41EE-8C1D-2996980856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6097" y="1121713"/>
            <a:ext cx="2073304" cy="53658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8D7D469-EB65-4238-BFD8-4CDCE6F4A3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4796" y="1121712"/>
            <a:ext cx="2073304" cy="53658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B691088-A640-4549-A957-0A5643C1D2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1894" y="1121712"/>
            <a:ext cx="2073303" cy="53658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94A0551-464D-45E9-86F2-3E9ED1446D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8990" y="1121711"/>
            <a:ext cx="2073303" cy="53658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9B82C1B-62B6-42AB-A8B9-88939446FE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36082" y="1121710"/>
            <a:ext cx="2073302" cy="53658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4868BB4-3683-4826-BF3A-4EFA2C2E9E5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7697" y="1674790"/>
            <a:ext cx="2073304" cy="478951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1A823D4-2C48-4B8E-9245-814BC67416C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44781" y="1674790"/>
            <a:ext cx="2073304" cy="478951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41D2CA5-A7F8-4578-AF8F-32EA1B8E71E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41894" y="1674790"/>
            <a:ext cx="2073304" cy="478951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D79AA65-2662-4C82-8AA7-364C8D07965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8989" y="1658295"/>
            <a:ext cx="2073304" cy="478951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CC27A21-C7C3-4EE6-B42A-A9BC8E7AA56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36081" y="1658295"/>
            <a:ext cx="2073304" cy="478951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4FB0740-60E7-4FE1-A75F-C0FC34B4A4F9}"/>
              </a:ext>
            </a:extLst>
          </p:cNvPr>
          <p:cNvSpPr txBox="1"/>
          <p:nvPr/>
        </p:nvSpPr>
        <p:spPr>
          <a:xfrm>
            <a:off x="747681" y="1803396"/>
            <a:ext cx="2073291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chemeClr val="bg1"/>
                </a:solidFill>
                <a:latin typeface="Bahnschrift" panose="020B0502040204020203" pitchFamily="34" charset="0"/>
              </a:rPr>
              <a:t>Johan Abdallah</a:t>
            </a:r>
          </a:p>
          <a:p>
            <a:endParaRPr lang="fr-FR" sz="1400" b="1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algn="ctr"/>
            <a:r>
              <a:rPr lang="fr-FR" sz="1100" i="1" dirty="0" err="1">
                <a:solidFill>
                  <a:schemeClr val="accent2"/>
                </a:solidFill>
                <a:latin typeface="Bahnschrift" panose="020B0502040204020203" pitchFamily="34" charset="0"/>
              </a:rPr>
              <a:t>Front-End</a:t>
            </a:r>
            <a:r>
              <a:rPr lang="fr-FR" sz="1100" i="1" dirty="0">
                <a:solidFill>
                  <a:schemeClr val="accent2"/>
                </a:solidFill>
                <a:latin typeface="Bahnschrift" panose="020B0502040204020203" pitchFamily="34" charset="0"/>
              </a:rPr>
              <a:t> &amp; Présentation</a:t>
            </a:r>
          </a:p>
          <a:p>
            <a:pPr algn="ctr"/>
            <a:endParaRPr lang="fr-FR" sz="1100" i="1" dirty="0">
              <a:solidFill>
                <a:schemeClr val="accent2"/>
              </a:solidFill>
              <a:latin typeface="Bahnschrift" panose="020B0502040204020203" pitchFamily="34" charset="0"/>
            </a:endParaRPr>
          </a:p>
          <a:p>
            <a:pPr marL="171450" indent="-171450">
              <a:buFontTx/>
              <a:buChar char="-"/>
            </a:pPr>
            <a:r>
              <a:rPr lang="fr-FR" sz="1050" dirty="0">
                <a:solidFill>
                  <a:schemeClr val="bg1"/>
                </a:solidFill>
                <a:latin typeface="Bahnschrift" panose="020B0502040204020203" pitchFamily="34" charset="0"/>
              </a:rPr>
              <a:t>Design du site</a:t>
            </a:r>
          </a:p>
          <a:p>
            <a:pPr marL="171450" indent="-171450">
              <a:buFontTx/>
              <a:buChar char="-"/>
            </a:pPr>
            <a:r>
              <a:rPr lang="fr-FR" sz="1050" dirty="0">
                <a:solidFill>
                  <a:schemeClr val="bg1"/>
                </a:solidFill>
                <a:latin typeface="Bahnschrift" panose="020B0502040204020203" pitchFamily="34" charset="0"/>
              </a:rPr>
              <a:t>Diaporama de présentation</a:t>
            </a:r>
          </a:p>
          <a:p>
            <a:pPr marL="171450" indent="-171450">
              <a:buFontTx/>
              <a:buChar char="-"/>
            </a:pPr>
            <a:r>
              <a:rPr lang="fr-FR" sz="1050" dirty="0">
                <a:solidFill>
                  <a:schemeClr val="bg1"/>
                </a:solidFill>
                <a:latin typeface="Bahnschrift" panose="020B0502040204020203" pitchFamily="34" charset="0"/>
              </a:rPr>
              <a:t>Annexe</a:t>
            </a:r>
          </a:p>
          <a:p>
            <a:pPr marL="171450" indent="-171450">
              <a:buFontTx/>
              <a:buChar char="-"/>
            </a:pPr>
            <a:r>
              <a:rPr lang="fr-FR" sz="1050" dirty="0">
                <a:solidFill>
                  <a:schemeClr val="bg1"/>
                </a:solidFill>
                <a:latin typeface="Bahnschrift" panose="020B0502040204020203" pitchFamily="34" charset="0"/>
              </a:rPr>
              <a:t>Gestion de projet</a:t>
            </a:r>
          </a:p>
          <a:p>
            <a:pPr marL="171450" indent="-171450">
              <a:buFontTx/>
              <a:buChar char="-"/>
            </a:pPr>
            <a:r>
              <a:rPr lang="fr-FR" sz="1050" dirty="0">
                <a:solidFill>
                  <a:schemeClr val="bg1"/>
                </a:solidFill>
                <a:latin typeface="Bahnschrift" panose="020B0502040204020203" pitchFamily="34" charset="0"/>
              </a:rPr>
              <a:t>Rédaction des textes de l’interface utilisateur</a:t>
            </a:r>
          </a:p>
          <a:p>
            <a:pPr marL="171450" indent="-171450">
              <a:buFontTx/>
              <a:buChar char="-"/>
            </a:pPr>
            <a:r>
              <a:rPr lang="fr-FR" sz="1050" dirty="0">
                <a:solidFill>
                  <a:schemeClr val="bg1"/>
                </a:solidFill>
                <a:latin typeface="Bahnschrift" panose="020B0502040204020203" pitchFamily="34" charset="0"/>
              </a:rPr>
              <a:t>Coordination des livrables</a:t>
            </a:r>
          </a:p>
          <a:p>
            <a:pPr marL="171450" indent="-171450">
              <a:buFontTx/>
              <a:buChar char="-"/>
            </a:pPr>
            <a:r>
              <a:rPr lang="fr-FR" sz="1050" dirty="0">
                <a:solidFill>
                  <a:schemeClr val="bg1"/>
                </a:solidFill>
                <a:latin typeface="Bahnschrift" panose="020B0502040204020203" pitchFamily="34" charset="0"/>
              </a:rPr>
              <a:t>Tests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3A8149-82B4-4A85-A2CD-562FB965779E}"/>
              </a:ext>
            </a:extLst>
          </p:cNvPr>
          <p:cNvSpPr txBox="1"/>
          <p:nvPr/>
        </p:nvSpPr>
        <p:spPr>
          <a:xfrm>
            <a:off x="2944787" y="1803396"/>
            <a:ext cx="2073291" cy="2316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chemeClr val="bg1"/>
                </a:solidFill>
                <a:latin typeface="Bahnschrift" panose="020B0502040204020203" pitchFamily="34" charset="0"/>
              </a:rPr>
              <a:t>Mohamed </a:t>
            </a:r>
            <a:r>
              <a:rPr lang="fr-FR" sz="14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Droussi</a:t>
            </a:r>
            <a:endParaRPr lang="fr-FR" sz="1400" b="1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endParaRPr lang="fr-FR" sz="1400" b="1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algn="ctr"/>
            <a:r>
              <a:rPr lang="fr-FR" sz="1100" i="1" dirty="0">
                <a:solidFill>
                  <a:schemeClr val="accent2"/>
                </a:solidFill>
                <a:latin typeface="Bahnschrift" panose="020B0502040204020203" pitchFamily="34" charset="0"/>
              </a:rPr>
              <a:t>Veille &amp; Outils</a:t>
            </a:r>
          </a:p>
          <a:p>
            <a:pPr algn="ctr"/>
            <a:endParaRPr lang="fr-FR" sz="1100" b="1" i="1" dirty="0">
              <a:solidFill>
                <a:schemeClr val="accent2"/>
              </a:solidFill>
              <a:latin typeface="Bahnschrift" panose="020B0502040204020203" pitchFamily="34" charset="0"/>
            </a:endParaRPr>
          </a:p>
          <a:p>
            <a:pPr marL="171450" indent="-171450">
              <a:buFontTx/>
              <a:buChar char="-"/>
            </a:pPr>
            <a:r>
              <a:rPr lang="fr-FR" sz="1050" dirty="0">
                <a:solidFill>
                  <a:schemeClr val="bg1"/>
                </a:solidFill>
                <a:latin typeface="Bahnschrift" panose="020B0502040204020203" pitchFamily="34" charset="0"/>
              </a:rPr>
              <a:t>Etude de marché</a:t>
            </a:r>
          </a:p>
          <a:p>
            <a:pPr marL="171450" indent="-171450">
              <a:buFontTx/>
              <a:buChar char="-"/>
            </a:pPr>
            <a:r>
              <a:rPr lang="fr-FR" sz="1050" dirty="0">
                <a:solidFill>
                  <a:schemeClr val="bg1"/>
                </a:solidFill>
                <a:latin typeface="Bahnschrift" panose="020B0502040204020203" pitchFamily="34" charset="0"/>
              </a:rPr>
              <a:t>Sélection des outils</a:t>
            </a:r>
          </a:p>
          <a:p>
            <a:pPr marL="171450" indent="-171450">
              <a:buFontTx/>
              <a:buChar char="-"/>
            </a:pPr>
            <a:r>
              <a:rPr lang="fr-FR" sz="1050" dirty="0">
                <a:solidFill>
                  <a:schemeClr val="bg1"/>
                </a:solidFill>
                <a:latin typeface="Bahnschrift" panose="020B0502040204020203" pitchFamily="34" charset="0"/>
              </a:rPr>
              <a:t>Documentation</a:t>
            </a:r>
          </a:p>
          <a:p>
            <a:pPr marL="171450" indent="-171450">
              <a:buFontTx/>
              <a:buChar char="-"/>
            </a:pPr>
            <a:r>
              <a:rPr lang="fr-FR" sz="1050" dirty="0">
                <a:solidFill>
                  <a:schemeClr val="bg1"/>
                </a:solidFill>
                <a:latin typeface="Bahnschrift" panose="020B0502040204020203" pitchFamily="34" charset="0"/>
              </a:rPr>
              <a:t>Benchmark des solutions concurrentes (Nessus, Qualys, </a:t>
            </a:r>
            <a:r>
              <a:rPr lang="fr-FR" sz="1050" dirty="0" err="1">
                <a:solidFill>
                  <a:schemeClr val="bg1"/>
                </a:solidFill>
                <a:latin typeface="Bahnschrift" panose="020B0502040204020203" pitchFamily="34" charset="0"/>
              </a:rPr>
              <a:t>WooRank</a:t>
            </a:r>
            <a:r>
              <a:rPr lang="fr-FR" sz="1050" dirty="0">
                <a:solidFill>
                  <a:schemeClr val="bg1"/>
                </a:solidFill>
                <a:latin typeface="Bahnschrift" panose="020B0502040204020203" pitchFamily="34" charset="0"/>
              </a:rPr>
              <a:t>)</a:t>
            </a:r>
          </a:p>
          <a:p>
            <a:pPr marL="171450" indent="-171450">
              <a:buFontTx/>
              <a:buChar char="-"/>
            </a:pPr>
            <a:r>
              <a:rPr lang="fr-FR" sz="1050" dirty="0">
                <a:solidFill>
                  <a:schemeClr val="bg1"/>
                </a:solidFill>
                <a:latin typeface="Bahnschrift" panose="020B0502040204020203" pitchFamily="34" charset="0"/>
              </a:rPr>
              <a:t>Rédaction cahier des charges</a:t>
            </a:r>
          </a:p>
          <a:p>
            <a:pPr marL="171450" indent="-171450">
              <a:buFontTx/>
              <a:buChar char="-"/>
            </a:pPr>
            <a:r>
              <a:rPr lang="fr-FR" sz="1050" dirty="0">
                <a:solidFill>
                  <a:schemeClr val="bg1"/>
                </a:solidFill>
                <a:latin typeface="Bahnschrift" panose="020B0502040204020203" pitchFamily="34" charset="0"/>
              </a:rPr>
              <a:t>Conformité légale des scans </a:t>
            </a:r>
            <a:endParaRPr lang="fr-FR" sz="10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BB4533D-0A3A-4207-91C4-9CC828131701}"/>
              </a:ext>
            </a:extLst>
          </p:cNvPr>
          <p:cNvSpPr txBox="1"/>
          <p:nvPr/>
        </p:nvSpPr>
        <p:spPr>
          <a:xfrm>
            <a:off x="5141708" y="1803396"/>
            <a:ext cx="2073291" cy="2885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chemeClr val="bg1"/>
                </a:solidFill>
                <a:latin typeface="Bahnschrift" panose="020B0502040204020203" pitchFamily="34" charset="0"/>
              </a:rPr>
              <a:t>Alexandre </a:t>
            </a:r>
            <a:r>
              <a:rPr lang="fr-FR" sz="14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Samperez</a:t>
            </a:r>
            <a:endParaRPr lang="fr-FR" sz="1400" b="1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endParaRPr lang="fr-FR" sz="1400" b="1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algn="ctr"/>
            <a:r>
              <a:rPr lang="fr-FR" sz="1100" i="1" dirty="0">
                <a:solidFill>
                  <a:schemeClr val="accent2"/>
                </a:solidFill>
                <a:latin typeface="Bahnschrift" panose="020B0502040204020203" pitchFamily="34" charset="0"/>
              </a:rPr>
              <a:t>Dev</a:t>
            </a:r>
          </a:p>
          <a:p>
            <a:pPr algn="ctr"/>
            <a:endParaRPr lang="fr-FR" sz="1100" i="1" dirty="0">
              <a:solidFill>
                <a:schemeClr val="accent2"/>
              </a:solidFill>
              <a:latin typeface="Bahnschrift" panose="020B0502040204020203" pitchFamily="34" charset="0"/>
            </a:endParaRPr>
          </a:p>
          <a:p>
            <a:pPr marL="171450" indent="-171450">
              <a:buFontTx/>
              <a:buChar char="-"/>
            </a:pPr>
            <a:r>
              <a:rPr lang="fr-FR" sz="1050" dirty="0">
                <a:solidFill>
                  <a:schemeClr val="bg1"/>
                </a:solidFill>
                <a:latin typeface="Bahnschrift" panose="020B0502040204020203" pitchFamily="34" charset="0"/>
              </a:rPr>
              <a:t>Création d’un environnement de test Docker</a:t>
            </a:r>
          </a:p>
          <a:p>
            <a:pPr marL="171450" indent="-171450">
              <a:buFontTx/>
              <a:buChar char="-"/>
            </a:pPr>
            <a:r>
              <a:rPr lang="fr-FR" sz="1000" dirty="0">
                <a:solidFill>
                  <a:schemeClr val="bg1"/>
                </a:solidFill>
                <a:latin typeface="Bahnschrift" panose="020B0502040204020203" pitchFamily="34" charset="0"/>
              </a:rPr>
              <a:t>Orchestrateur des programmes</a:t>
            </a:r>
          </a:p>
          <a:p>
            <a:pPr marL="171450" indent="-171450">
              <a:buFontTx/>
              <a:buChar char="-"/>
            </a:pPr>
            <a:r>
              <a:rPr lang="fr-FR" sz="1000" dirty="0">
                <a:solidFill>
                  <a:schemeClr val="bg1"/>
                </a:solidFill>
                <a:latin typeface="Bahnschrift" panose="020B0502040204020203" pitchFamily="34" charset="0"/>
              </a:rPr>
              <a:t>Interfaces </a:t>
            </a:r>
          </a:p>
          <a:p>
            <a:pPr marL="171450" indent="-171450">
              <a:buFontTx/>
              <a:buChar char="-"/>
            </a:pPr>
            <a:r>
              <a:rPr lang="fr-FR" sz="1000" dirty="0">
                <a:solidFill>
                  <a:schemeClr val="bg1"/>
                </a:solidFill>
                <a:latin typeface="Bahnschrift" panose="020B0502040204020203" pitchFamily="34" charset="0"/>
              </a:rPr>
              <a:t>Création du site de test vulnérable </a:t>
            </a:r>
          </a:p>
          <a:p>
            <a:pPr marL="171450" indent="-171450">
              <a:buFontTx/>
              <a:buChar char="-"/>
            </a:pPr>
            <a:r>
              <a:rPr lang="fr-FR" sz="1000" dirty="0">
                <a:solidFill>
                  <a:schemeClr val="bg1"/>
                </a:solidFill>
                <a:latin typeface="Bahnschrift" panose="020B0502040204020203" pitchFamily="34" charset="0"/>
              </a:rPr>
              <a:t>Gestion du dépôt </a:t>
            </a:r>
            <a:r>
              <a:rPr lang="fr-FR" sz="1000" dirty="0" err="1">
                <a:solidFill>
                  <a:schemeClr val="bg1"/>
                </a:solidFill>
                <a:latin typeface="Bahnschrift" panose="020B0502040204020203" pitchFamily="34" charset="0"/>
              </a:rPr>
              <a:t>GitGub</a:t>
            </a:r>
            <a:endParaRPr lang="fr-FR" sz="10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171450" indent="-171450">
              <a:buFontTx/>
              <a:buChar char="-"/>
            </a:pPr>
            <a:r>
              <a:rPr lang="fr-FR" sz="1000" dirty="0">
                <a:solidFill>
                  <a:schemeClr val="bg1"/>
                </a:solidFill>
                <a:latin typeface="Bahnschrift" panose="020B0502040204020203" pitchFamily="34" charset="0"/>
              </a:rPr>
              <a:t>Conception de l’algo de </a:t>
            </a:r>
            <a:r>
              <a:rPr lang="fr-FR" sz="1000" dirty="0" err="1">
                <a:solidFill>
                  <a:schemeClr val="bg1"/>
                </a:solidFill>
                <a:latin typeface="Bahnschrift" panose="020B0502040204020203" pitchFamily="34" charset="0"/>
              </a:rPr>
              <a:t>scoring</a:t>
            </a:r>
            <a:r>
              <a:rPr lang="fr-FR" sz="1000" dirty="0">
                <a:solidFill>
                  <a:schemeClr val="bg1"/>
                </a:solidFill>
                <a:latin typeface="Bahnschrift" panose="020B0502040204020203" pitchFamily="34" charset="0"/>
              </a:rPr>
              <a:t> ANSSI</a:t>
            </a:r>
          </a:p>
          <a:p>
            <a:endParaRPr lang="fr-FR" sz="10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171450" indent="-171450">
              <a:buFontTx/>
              <a:buChar char="-"/>
            </a:pPr>
            <a:endParaRPr lang="fr-FR" sz="10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6A6F097-AD1B-4C6E-BC51-56E63B236F5C}"/>
              </a:ext>
            </a:extLst>
          </p:cNvPr>
          <p:cNvSpPr txBox="1"/>
          <p:nvPr/>
        </p:nvSpPr>
        <p:spPr>
          <a:xfrm>
            <a:off x="7339002" y="1803396"/>
            <a:ext cx="2073291" cy="2793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chemeClr val="bg1"/>
                </a:solidFill>
                <a:latin typeface="Bahnschrift" panose="020B0502040204020203" pitchFamily="34" charset="0"/>
              </a:rPr>
              <a:t>Walid </a:t>
            </a:r>
            <a:r>
              <a:rPr lang="fr-FR" sz="14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Badaoui</a:t>
            </a:r>
            <a:endParaRPr lang="fr-FR" sz="1400" b="1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endParaRPr lang="fr-FR" sz="1400" b="1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algn="ctr"/>
            <a:r>
              <a:rPr lang="fr-FR" sz="1100" i="1" dirty="0" err="1">
                <a:solidFill>
                  <a:schemeClr val="accent2"/>
                </a:solidFill>
                <a:latin typeface="Bahnschrift" panose="020B0502040204020203" pitchFamily="34" charset="0"/>
              </a:rPr>
              <a:t>Back-End</a:t>
            </a:r>
            <a:r>
              <a:rPr lang="fr-FR" sz="1100" i="1" dirty="0">
                <a:solidFill>
                  <a:schemeClr val="accent2"/>
                </a:solidFill>
                <a:latin typeface="Bahnschrift" panose="020B0502040204020203" pitchFamily="34" charset="0"/>
              </a:rPr>
              <a:t> &amp; Scan</a:t>
            </a:r>
          </a:p>
          <a:p>
            <a:pPr algn="ctr"/>
            <a:endParaRPr lang="fr-FR" sz="1100" i="1" dirty="0">
              <a:solidFill>
                <a:schemeClr val="accent2"/>
              </a:solidFill>
              <a:latin typeface="Bahnschrift" panose="020B0502040204020203" pitchFamily="34" charset="0"/>
            </a:endParaRPr>
          </a:p>
          <a:p>
            <a:pPr marL="171450" indent="-171450">
              <a:buFontTx/>
              <a:buChar char="-"/>
            </a:pPr>
            <a:r>
              <a:rPr lang="fr-FR" sz="1050" dirty="0">
                <a:solidFill>
                  <a:schemeClr val="bg1"/>
                </a:solidFill>
                <a:latin typeface="Bahnschrift" panose="020B0502040204020203" pitchFamily="34" charset="0"/>
              </a:rPr>
              <a:t>Script Python</a:t>
            </a:r>
          </a:p>
          <a:p>
            <a:pPr marL="171450" indent="-171450">
              <a:buFontTx/>
              <a:buChar char="-"/>
            </a:pPr>
            <a:r>
              <a:rPr lang="fr-FR" sz="1050" dirty="0">
                <a:solidFill>
                  <a:schemeClr val="bg1"/>
                </a:solidFill>
                <a:latin typeface="Bahnschrift" panose="020B0502040204020203" pitchFamily="34" charset="0"/>
              </a:rPr>
              <a:t>Moteur orchestrateur</a:t>
            </a:r>
          </a:p>
          <a:p>
            <a:pPr marL="171450" indent="-171450">
              <a:buFontTx/>
              <a:buChar char="-"/>
            </a:pPr>
            <a:r>
              <a:rPr lang="fr-FR" sz="1050" dirty="0" err="1">
                <a:solidFill>
                  <a:schemeClr val="bg1"/>
                </a:solidFill>
                <a:latin typeface="Bahnschrift" panose="020B0502040204020203" pitchFamily="34" charset="0"/>
              </a:rPr>
              <a:t>Parsing</a:t>
            </a:r>
            <a:r>
              <a:rPr lang="fr-FR" sz="1050" dirty="0">
                <a:solidFill>
                  <a:schemeClr val="bg1"/>
                </a:solidFill>
                <a:latin typeface="Bahnschrift" panose="020B0502040204020203" pitchFamily="34" charset="0"/>
              </a:rPr>
              <a:t> sorties CLI</a:t>
            </a:r>
          </a:p>
          <a:p>
            <a:pPr marL="171450" indent="-171450">
              <a:buFontTx/>
              <a:buChar char="-"/>
            </a:pPr>
            <a:r>
              <a:rPr lang="fr-FR" sz="1050" dirty="0">
                <a:solidFill>
                  <a:schemeClr val="bg1"/>
                </a:solidFill>
                <a:latin typeface="Bahnschrift" panose="020B0502040204020203" pitchFamily="34" charset="0"/>
              </a:rPr>
              <a:t>Création de l’interface SaaS intuitive</a:t>
            </a:r>
          </a:p>
          <a:p>
            <a:pPr marL="171450" indent="-171450">
              <a:buFontTx/>
              <a:buChar char="-"/>
            </a:pPr>
            <a:r>
              <a:rPr lang="fr-FR" sz="1050" dirty="0">
                <a:solidFill>
                  <a:schemeClr val="bg1"/>
                </a:solidFill>
                <a:latin typeface="Bahnschrift" panose="020B0502040204020203" pitchFamily="34" charset="0"/>
              </a:rPr>
              <a:t>Développement du générateur PDF (rapport simple &amp; avancé)</a:t>
            </a:r>
          </a:p>
          <a:p>
            <a:pPr marL="171450" indent="-171450">
              <a:buFontTx/>
              <a:buChar char="-"/>
            </a:pPr>
            <a:r>
              <a:rPr lang="fr-FR" sz="1050" dirty="0" err="1">
                <a:solidFill>
                  <a:schemeClr val="bg1"/>
                </a:solidFill>
                <a:latin typeface="Bahnschrift" panose="020B0502040204020203" pitchFamily="34" charset="0"/>
              </a:rPr>
              <a:t>Parsing</a:t>
            </a:r>
            <a:r>
              <a:rPr lang="fr-FR" sz="1050" dirty="0">
                <a:solidFill>
                  <a:schemeClr val="bg1"/>
                </a:solidFill>
                <a:latin typeface="Bahnschrift" panose="020B0502040204020203" pitchFamily="34" charset="0"/>
              </a:rPr>
              <a:t> et Vulgarisation des sorties CLI (</a:t>
            </a:r>
            <a:r>
              <a:rPr lang="fr-FR" sz="1050" dirty="0" err="1">
                <a:solidFill>
                  <a:schemeClr val="bg1"/>
                </a:solidFill>
                <a:latin typeface="Bahnschrift" panose="020B0502040204020203" pitchFamily="34" charset="0"/>
              </a:rPr>
              <a:t>GoBuster</a:t>
            </a:r>
            <a:r>
              <a:rPr lang="fr-FR" sz="1050" dirty="0">
                <a:solidFill>
                  <a:schemeClr val="bg1"/>
                </a:solidFill>
                <a:latin typeface="Bahnschrift" panose="020B0502040204020203" pitchFamily="34" charset="0"/>
              </a:rPr>
              <a:t>, </a:t>
            </a:r>
            <a:r>
              <a:rPr lang="fr-FR" sz="1050" dirty="0" err="1">
                <a:solidFill>
                  <a:schemeClr val="bg1"/>
                </a:solidFill>
                <a:latin typeface="Bahnschrift" panose="020B0502040204020203" pitchFamily="34" charset="0"/>
              </a:rPr>
              <a:t>Nikto</a:t>
            </a:r>
            <a:r>
              <a:rPr lang="fr-FR" sz="1050" dirty="0">
                <a:solidFill>
                  <a:schemeClr val="bg1"/>
                </a:solidFill>
                <a:latin typeface="Bahnschrift" panose="020B0502040204020203" pitchFamily="34" charset="0"/>
              </a:rPr>
              <a:t>, </a:t>
            </a:r>
            <a:r>
              <a:rPr lang="fr-FR" sz="1050" dirty="0" err="1">
                <a:solidFill>
                  <a:schemeClr val="bg1"/>
                </a:solidFill>
                <a:latin typeface="Bahnschrift" panose="020B0502040204020203" pitchFamily="34" charset="0"/>
              </a:rPr>
              <a:t>Nmap</a:t>
            </a:r>
            <a:r>
              <a:rPr lang="fr-FR" sz="1050" dirty="0">
                <a:solidFill>
                  <a:schemeClr val="bg1"/>
                </a:solidFill>
                <a:latin typeface="Bahnschrift" panose="020B0502040204020203" pitchFamily="34" charset="0"/>
              </a:rPr>
              <a:t>)</a:t>
            </a:r>
          </a:p>
          <a:p>
            <a:endParaRPr lang="fr-FR" sz="10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152DC48-E964-4721-9408-929105862DDA}"/>
              </a:ext>
            </a:extLst>
          </p:cNvPr>
          <p:cNvSpPr txBox="1"/>
          <p:nvPr/>
        </p:nvSpPr>
        <p:spPr>
          <a:xfrm>
            <a:off x="9535887" y="1803396"/>
            <a:ext cx="2073291" cy="2639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chemeClr val="bg1"/>
                </a:solidFill>
                <a:latin typeface="Bahnschrift" panose="020B0502040204020203" pitchFamily="34" charset="0"/>
              </a:rPr>
              <a:t>Nicolas Nonnenmacher</a:t>
            </a:r>
          </a:p>
          <a:p>
            <a:endParaRPr lang="fr-FR" sz="1400" b="1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algn="ctr"/>
            <a:r>
              <a:rPr lang="fr-FR" sz="1100" i="1" dirty="0">
                <a:solidFill>
                  <a:schemeClr val="accent2"/>
                </a:solidFill>
                <a:latin typeface="Bahnschrift" panose="020B0502040204020203" pitchFamily="34" charset="0"/>
              </a:rPr>
              <a:t>Veille &amp; Outils</a:t>
            </a:r>
          </a:p>
          <a:p>
            <a:pPr algn="ctr"/>
            <a:endParaRPr lang="fr-FR" sz="1100" i="1" dirty="0">
              <a:solidFill>
                <a:schemeClr val="accent2"/>
              </a:solidFill>
              <a:latin typeface="Bahnschrift" panose="020B0502040204020203" pitchFamily="34" charset="0"/>
            </a:endParaRPr>
          </a:p>
          <a:p>
            <a:pPr marL="171450" indent="-171450">
              <a:buFontTx/>
              <a:buChar char="-"/>
            </a:pPr>
            <a:r>
              <a:rPr lang="fr-FR" sz="1050" dirty="0">
                <a:solidFill>
                  <a:schemeClr val="bg1"/>
                </a:solidFill>
                <a:latin typeface="Bahnschrift" panose="020B0502040204020203" pitchFamily="34" charset="0"/>
              </a:rPr>
              <a:t>Etude de marché </a:t>
            </a:r>
          </a:p>
          <a:p>
            <a:pPr marL="171450" indent="-171450">
              <a:buFontTx/>
              <a:buChar char="-"/>
            </a:pPr>
            <a:r>
              <a:rPr lang="fr-FR" sz="1050" dirty="0">
                <a:solidFill>
                  <a:schemeClr val="bg1"/>
                </a:solidFill>
                <a:latin typeface="Bahnschrift" panose="020B0502040204020203" pitchFamily="34" charset="0"/>
              </a:rPr>
              <a:t>Synthèse comparative</a:t>
            </a:r>
          </a:p>
          <a:p>
            <a:pPr marL="171450" indent="-171450">
              <a:buFontTx/>
              <a:buChar char="-"/>
            </a:pPr>
            <a:r>
              <a:rPr lang="fr-FR" sz="1050" dirty="0">
                <a:solidFill>
                  <a:schemeClr val="bg1"/>
                </a:solidFill>
                <a:latin typeface="Bahnschrift" panose="020B0502040204020203" pitchFamily="34" charset="0"/>
              </a:rPr>
              <a:t>Tests &amp; Validation</a:t>
            </a:r>
          </a:p>
          <a:p>
            <a:pPr marL="171450" indent="-171450">
              <a:buFontTx/>
              <a:buChar char="-"/>
            </a:pPr>
            <a:r>
              <a:rPr lang="fr-FR" sz="1050" dirty="0">
                <a:solidFill>
                  <a:schemeClr val="bg1"/>
                </a:solidFill>
                <a:latin typeface="Bahnschrift" panose="020B0502040204020203" pitchFamily="34" charset="0"/>
              </a:rPr>
              <a:t>Documentation</a:t>
            </a:r>
          </a:p>
          <a:p>
            <a:pPr marL="171450" indent="-171450">
              <a:buFontTx/>
              <a:buChar char="-"/>
            </a:pPr>
            <a:r>
              <a:rPr lang="fr-FR" sz="1050" dirty="0">
                <a:solidFill>
                  <a:schemeClr val="bg1"/>
                </a:solidFill>
                <a:latin typeface="Bahnschrift" panose="020B0502040204020203" pitchFamily="34" charset="0"/>
              </a:rPr>
              <a:t>Rédaction du manuel d’installation (INSTALL.md)</a:t>
            </a:r>
          </a:p>
          <a:p>
            <a:pPr marL="171450" indent="-171450">
              <a:buFontTx/>
              <a:buChar char="-"/>
            </a:pPr>
            <a:r>
              <a:rPr lang="fr-FR" sz="1050" dirty="0">
                <a:solidFill>
                  <a:schemeClr val="bg1"/>
                </a:solidFill>
                <a:latin typeface="Bahnschrift" panose="020B0502040204020203" pitchFamily="34" charset="0"/>
              </a:rPr>
              <a:t>Validation fonctionnelle sur d’autres sites web vulnérables</a:t>
            </a:r>
          </a:p>
          <a:p>
            <a:pPr marL="171450" indent="-171450">
              <a:buFontTx/>
              <a:buChar char="-"/>
            </a:pPr>
            <a:r>
              <a:rPr lang="fr-FR" sz="1050" dirty="0">
                <a:solidFill>
                  <a:schemeClr val="bg1"/>
                </a:solidFill>
                <a:latin typeface="Bahnschrift" panose="020B0502040204020203" pitchFamily="34" charset="0"/>
              </a:rPr>
              <a:t>Rédaction du rapport de tests comparatifs</a:t>
            </a:r>
            <a:endParaRPr lang="fr-FR" sz="10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CEE4000-7571-45FB-B1FB-592FB8F798C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8547" y="4102930"/>
            <a:ext cx="1850869" cy="215443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8B13FF3-B9F5-4A48-A7D7-64297F618FD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54368" y="4442580"/>
            <a:ext cx="1442144" cy="1883115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EA992F5E-26F1-4B0A-B18C-4F4FED9C0FE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26039" y="4175641"/>
            <a:ext cx="1922306" cy="2184673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F181F1A2-3E88-4F5A-BD7E-2349BDD8F7E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20681" y="4468534"/>
            <a:ext cx="1908416" cy="189178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7D99F2DE-BB47-4EBE-9073-F8E1379B260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97402" y="4380470"/>
            <a:ext cx="1397195" cy="20673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C46D24-5D89-3A25-26F5-EE43377C2043}"/>
              </a:ext>
            </a:extLst>
          </p:cNvPr>
          <p:cNvSpPr txBox="1"/>
          <p:nvPr/>
        </p:nvSpPr>
        <p:spPr>
          <a:xfrm>
            <a:off x="11542980" y="6511636"/>
            <a:ext cx="274319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3/12</a:t>
            </a:r>
          </a:p>
        </p:txBody>
      </p:sp>
    </p:spTree>
    <p:extLst>
      <p:ext uri="{BB962C8B-B14F-4D97-AF65-F5344CB8AC3E}">
        <p14:creationId xmlns:p14="http://schemas.microsoft.com/office/powerpoint/2010/main" val="1208269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D18B75A-3CA3-473C-9E7D-1B4D366CA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01700"/>
            <a:ext cx="12191999" cy="5956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76E36C-C0DF-4815-B697-1FCB15E2C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896" y="0"/>
            <a:ext cx="11903103" cy="901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36BF5D-F014-463C-9C93-5AE15B2CB6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-1"/>
            <a:ext cx="288896" cy="9017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A632A79-5A72-4289-AC42-1398C5BC6AED}"/>
              </a:ext>
            </a:extLst>
          </p:cNvPr>
          <p:cNvSpPr txBox="1"/>
          <p:nvPr/>
        </p:nvSpPr>
        <p:spPr>
          <a:xfrm>
            <a:off x="393700" y="220016"/>
            <a:ext cx="873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bg1"/>
                </a:solidFill>
                <a:latin typeface="Bahnschrift" panose="020B0502040204020203" pitchFamily="34" charset="0"/>
              </a:rPr>
              <a:t>SYSTÈME DE SCORING ANSSI</a:t>
            </a:r>
            <a:endParaRPr lang="fr-FR" sz="2400" b="1" dirty="0">
              <a:solidFill>
                <a:schemeClr val="accent2"/>
              </a:solidFill>
              <a:latin typeface="Bahnschrift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A24342-A769-42B0-A55F-934EE4EC52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01696"/>
            <a:ext cx="12191998" cy="595629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EC67D65-4A14-4C85-B496-D38471F37D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896" y="1121716"/>
            <a:ext cx="4092604" cy="249778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0A8ADEA-5793-4BA6-A012-815E9A15D3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0396" y="1121715"/>
            <a:ext cx="7232708" cy="249778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076711F-D7C9-4FD4-8E45-D85EA1B73B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894" y="3839514"/>
            <a:ext cx="6924706" cy="2751785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6A1C36EB-8282-4318-A88C-2FA561039D31}"/>
              </a:ext>
            </a:extLst>
          </p:cNvPr>
          <p:cNvSpPr txBox="1"/>
          <p:nvPr/>
        </p:nvSpPr>
        <p:spPr>
          <a:xfrm>
            <a:off x="639748" y="1229434"/>
            <a:ext cx="33909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700" dirty="0">
                <a:solidFill>
                  <a:schemeClr val="accent2"/>
                </a:solidFill>
                <a:latin typeface="Bahnschrift" panose="020B0502040204020203" pitchFamily="34" charset="0"/>
              </a:rPr>
              <a:t>La Métaphore de la Batterie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0C06685-C701-41E2-9AE4-CA197E5F27A0}"/>
              </a:ext>
            </a:extLst>
          </p:cNvPr>
          <p:cNvSpPr txBox="1"/>
          <p:nvPr/>
        </p:nvSpPr>
        <p:spPr>
          <a:xfrm>
            <a:off x="341298" y="1746409"/>
            <a:ext cx="3987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  <a:latin typeface="Bahnschrift" panose="020B0502040204020203" pitchFamily="34" charset="0"/>
              </a:rPr>
              <a:t>Votre site démarre à </a:t>
            </a:r>
            <a:r>
              <a:rPr lang="fr-FR" sz="1400" dirty="0">
                <a:solidFill>
                  <a:srgbClr val="00B050"/>
                </a:solidFill>
                <a:latin typeface="Bahnschrift" panose="020B0502040204020203" pitchFamily="34" charset="0"/>
              </a:rPr>
              <a:t>100%</a:t>
            </a:r>
            <a:r>
              <a:rPr lang="fr-FR" sz="1400" dirty="0">
                <a:solidFill>
                  <a:schemeClr val="bg1"/>
                </a:solidFill>
                <a:latin typeface="Bahnschrift" panose="020B0502040204020203" pitchFamily="34" charset="0"/>
              </a:rPr>
              <a:t> de charge. Chaque faille détectée consomme de l’énergie selon sa gravité et sa facilité d’exploitation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A37E15-65DF-4F59-815A-4C2EFEDDE1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37656" y="2755256"/>
            <a:ext cx="1113359" cy="46097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90F1997-8119-4152-AE34-F050C1F2921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080" y="2758065"/>
            <a:ext cx="1101476" cy="46097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050D94A-AC91-4F1F-A90E-9220B020119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67324" y="2755256"/>
            <a:ext cx="1101476" cy="46377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0E7D6ED-F1D9-41D2-BDB4-4DD5DE056D6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3700" y="1220885"/>
            <a:ext cx="246047" cy="426356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63136CA2-6464-4239-8565-532F32E3F560}"/>
              </a:ext>
            </a:extLst>
          </p:cNvPr>
          <p:cNvSpPr txBox="1"/>
          <p:nvPr/>
        </p:nvSpPr>
        <p:spPr>
          <a:xfrm>
            <a:off x="538147" y="3203672"/>
            <a:ext cx="3987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rgbClr val="00B050"/>
                </a:solidFill>
                <a:latin typeface="Bahnschrift" panose="020B0502040204020203" pitchFamily="34" charset="0"/>
              </a:rPr>
              <a:t>     Sain                  </a:t>
            </a:r>
            <a:r>
              <a:rPr lang="fr-FR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Modéré      </a:t>
            </a:r>
            <a:r>
              <a:rPr lang="fr-F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           Elevé</a:t>
            </a:r>
            <a:r>
              <a:rPr lang="fr-FR" sz="1400" dirty="0">
                <a:solidFill>
                  <a:srgbClr val="00B050"/>
                </a:solidFill>
                <a:latin typeface="Bahnschrift" panose="020B0502040204020203" pitchFamily="34" charset="0"/>
              </a:rPr>
              <a:t>     </a:t>
            </a:r>
            <a:endParaRPr lang="fr-FR" sz="1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F707F3B-C5A4-4FB2-A821-01D1D7FD2D1E}"/>
              </a:ext>
            </a:extLst>
          </p:cNvPr>
          <p:cNvSpPr txBox="1"/>
          <p:nvPr/>
        </p:nvSpPr>
        <p:spPr>
          <a:xfrm>
            <a:off x="4895848" y="1220885"/>
            <a:ext cx="4156047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700" dirty="0">
                <a:solidFill>
                  <a:schemeClr val="accent2"/>
                </a:solidFill>
                <a:latin typeface="Bahnschrift" panose="020B0502040204020203" pitchFamily="34" charset="0"/>
              </a:rPr>
              <a:t>Formule Hybride du Maillon Faible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ECA2A679-F87C-4D2A-8B1A-945525F559B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95848" y="1746408"/>
            <a:ext cx="6648452" cy="1008847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7AABEEFA-7094-410C-85B1-7310FA9678AA}"/>
              </a:ext>
            </a:extLst>
          </p:cNvPr>
          <p:cNvSpPr txBox="1"/>
          <p:nvPr/>
        </p:nvSpPr>
        <p:spPr>
          <a:xfrm>
            <a:off x="4895847" y="1902893"/>
            <a:ext cx="61103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  <a:latin typeface="Bahnschrift" panose="020B0502040204020203" pitchFamily="34" charset="0"/>
              </a:rPr>
              <a:t>Risque = </a:t>
            </a:r>
            <a:r>
              <a:rPr lang="fr-FR" sz="1400" dirty="0">
                <a:solidFill>
                  <a:schemeClr val="accent2"/>
                </a:solidFill>
                <a:latin typeface="Bahnschrift" panose="020B0502040204020203" pitchFamily="34" charset="0"/>
              </a:rPr>
              <a:t>(pire_risque * 0,5) </a:t>
            </a:r>
            <a:r>
              <a:rPr lang="fr-FR" sz="1400" dirty="0">
                <a:solidFill>
                  <a:schemeClr val="bg1"/>
                </a:solidFill>
                <a:latin typeface="Bahnschrift" panose="020B0502040204020203" pitchFamily="34" charset="0"/>
              </a:rPr>
              <a:t>+ </a:t>
            </a:r>
            <a:r>
              <a:rPr lang="fr-FR" sz="1400" dirty="0">
                <a:solidFill>
                  <a:srgbClr val="00B0F0"/>
                </a:solidFill>
                <a:latin typeface="Bahnschrift" panose="020B0502040204020203" pitchFamily="34" charset="0"/>
              </a:rPr>
              <a:t>(moyenne_5_axes * 0,5) </a:t>
            </a:r>
          </a:p>
          <a:p>
            <a:endParaRPr lang="fr-FR" sz="14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r>
              <a:rPr lang="fr-FR" sz="1600" b="1" dirty="0">
                <a:solidFill>
                  <a:schemeClr val="bg1"/>
                </a:solidFill>
                <a:latin typeface="Bahnschrift" panose="020B0502040204020203" pitchFamily="34" charset="0"/>
              </a:rPr>
              <a:t>Score = 100 – (risque * 9)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A48ADACC-18A0-4A4D-AC50-9A467826614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8147" y="4338098"/>
            <a:ext cx="6230953" cy="2036864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38F48202-745C-40E3-B234-4ADA25F72BFB}"/>
              </a:ext>
            </a:extLst>
          </p:cNvPr>
          <p:cNvSpPr txBox="1"/>
          <p:nvPr/>
        </p:nvSpPr>
        <p:spPr>
          <a:xfrm>
            <a:off x="512452" y="3890944"/>
            <a:ext cx="4156047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700" dirty="0">
                <a:solidFill>
                  <a:schemeClr val="accent2"/>
                </a:solidFill>
                <a:latin typeface="Bahnschrift" panose="020B0502040204020203" pitchFamily="34" charset="0"/>
              </a:rPr>
              <a:t>Système de notation ANSSI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F33EFF6C-381F-486D-9AF8-CFB729AD86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2494" y="3839514"/>
            <a:ext cx="4400610" cy="1451814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65BF7352-8705-4477-88D4-CB24FC080DB4}"/>
              </a:ext>
            </a:extLst>
          </p:cNvPr>
          <p:cNvSpPr txBox="1"/>
          <p:nvPr/>
        </p:nvSpPr>
        <p:spPr>
          <a:xfrm>
            <a:off x="7607300" y="3890944"/>
            <a:ext cx="4051240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700" dirty="0">
                <a:solidFill>
                  <a:schemeClr val="accent2"/>
                </a:solidFill>
                <a:latin typeface="Bahnschrift" panose="020B0502040204020203" pitchFamily="34" charset="0"/>
              </a:rPr>
              <a:t>  Exemple concret – site-test</a:t>
            </a:r>
          </a:p>
          <a:p>
            <a:r>
              <a:rPr lang="fr-FR" sz="1600" dirty="0">
                <a:solidFill>
                  <a:schemeClr val="bg1"/>
                </a:solidFill>
                <a:latin typeface="Bahnschrift" panose="020B0502040204020203" pitchFamily="34" charset="0"/>
              </a:rPr>
              <a:t>/.</a:t>
            </a:r>
            <a:r>
              <a:rPr lang="fr-FR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env</a:t>
            </a:r>
            <a:r>
              <a:rPr lang="fr-FR" sz="1600" dirty="0">
                <a:solidFill>
                  <a:schemeClr val="bg1"/>
                </a:solidFill>
                <a:latin typeface="Bahnschrift" panose="020B0502040204020203" pitchFamily="34" charset="0"/>
              </a:rPr>
              <a:t> exposé</a:t>
            </a:r>
          </a:p>
          <a:p>
            <a:r>
              <a:rPr lang="fr-FR" sz="1600" dirty="0">
                <a:solidFill>
                  <a:schemeClr val="bg1"/>
                </a:solidFill>
                <a:latin typeface="Bahnschrift" panose="020B0502040204020203" pitchFamily="34" charset="0"/>
              </a:rPr>
              <a:t>= Impact Critique * Exploitation Facile</a:t>
            </a:r>
          </a:p>
          <a:p>
            <a:r>
              <a:rPr lang="fr-FR" sz="1600" dirty="0">
                <a:solidFill>
                  <a:schemeClr val="bg1"/>
                </a:solidFill>
                <a:latin typeface="Bahnschrift" panose="020B0502040204020203" pitchFamily="34" charset="0"/>
              </a:rPr>
              <a:t>= -8 pts sur la batterie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049DD097-F02F-40D5-AA6B-9D1868B364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2494" y="5375650"/>
            <a:ext cx="4400610" cy="1215649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1B2A29B9-C0AF-4E18-B331-0A9A8602370F}"/>
              </a:ext>
            </a:extLst>
          </p:cNvPr>
          <p:cNvSpPr txBox="1"/>
          <p:nvPr/>
        </p:nvSpPr>
        <p:spPr>
          <a:xfrm>
            <a:off x="7602613" y="5424261"/>
            <a:ext cx="405124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700" dirty="0">
                <a:solidFill>
                  <a:schemeClr val="accent2"/>
                </a:solidFill>
                <a:latin typeface="Bahnschrift" panose="020B0502040204020203" pitchFamily="34" charset="0"/>
              </a:rPr>
              <a:t>  Echelle ANSSI</a:t>
            </a:r>
            <a:endParaRPr lang="fr-FR" sz="16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A41A098-36AB-4A50-B6C9-F4027892349F}"/>
              </a:ext>
            </a:extLst>
          </p:cNvPr>
          <p:cNvSpPr txBox="1"/>
          <p:nvPr/>
        </p:nvSpPr>
        <p:spPr>
          <a:xfrm>
            <a:off x="7502493" y="5572587"/>
            <a:ext cx="440061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fr-FR" sz="1600" dirty="0">
                <a:solidFill>
                  <a:srgbClr val="00B050"/>
                </a:solidFill>
                <a:latin typeface="Bahnschrift" panose="020B0502040204020203" pitchFamily="34" charset="0"/>
              </a:rPr>
              <a:t>   100-73% Sain                        </a:t>
            </a:r>
            <a:r>
              <a:rPr lang="fr-FR" sz="1600" dirty="0">
                <a:solidFill>
                  <a:schemeClr val="accent4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73-55% Modéré</a:t>
            </a:r>
            <a:endParaRPr lang="fr-FR" sz="16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r>
              <a:rPr lang="fr-FR" sz="1600" dirty="0">
                <a:solidFill>
                  <a:schemeClr val="accent2"/>
                </a:solidFill>
                <a:latin typeface="Bahnschrift" panose="020B0502040204020203" pitchFamily="34" charset="0"/>
              </a:rPr>
              <a:t>   55-30% Elevé                       </a:t>
            </a:r>
            <a:r>
              <a:rPr lang="fr-FR" sz="1600" dirty="0">
                <a:solidFill>
                  <a:srgbClr val="C00000"/>
                </a:solidFill>
                <a:latin typeface="Bahnschrift" panose="020B0502040204020203" pitchFamily="34" charset="0"/>
              </a:rPr>
              <a:t>30-0% Critique</a:t>
            </a:r>
            <a:endParaRPr lang="fr-FR" sz="1600" dirty="0">
              <a:solidFill>
                <a:srgbClr val="C00000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62814B6-4AB3-4ABD-B147-0CC93EB63BF2}"/>
              </a:ext>
            </a:extLst>
          </p:cNvPr>
          <p:cNvSpPr txBox="1"/>
          <p:nvPr/>
        </p:nvSpPr>
        <p:spPr>
          <a:xfrm>
            <a:off x="5433998" y="2878471"/>
            <a:ext cx="61103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  <a:latin typeface="Bahnschrift" panose="020B0502040204020203" pitchFamily="34" charset="0"/>
              </a:rPr>
              <a:t>Notre algorithme retire des points en évaluant la </a:t>
            </a:r>
            <a:r>
              <a:rPr lang="fr-FR" sz="1400" i="1" dirty="0">
                <a:solidFill>
                  <a:schemeClr val="bg1"/>
                </a:solidFill>
                <a:latin typeface="Bahnschrift" panose="020B0502040204020203" pitchFamily="34" charset="0"/>
              </a:rPr>
              <a:t>gravité de l’Impact </a:t>
            </a:r>
            <a:r>
              <a:rPr lang="fr-FR" sz="1400" dirty="0">
                <a:solidFill>
                  <a:schemeClr val="bg1"/>
                </a:solidFill>
                <a:latin typeface="Bahnschrift" panose="020B0502040204020203" pitchFamily="34" charset="0"/>
              </a:rPr>
              <a:t>(Mineur à Critique) face à la </a:t>
            </a:r>
            <a:r>
              <a:rPr lang="fr-FR" sz="1400" i="1" dirty="0">
                <a:solidFill>
                  <a:schemeClr val="bg1"/>
                </a:solidFill>
                <a:latin typeface="Bahnschrift" panose="020B0502040204020203" pitchFamily="34" charset="0"/>
              </a:rPr>
              <a:t>Difficulté d’exploitation </a:t>
            </a:r>
            <a:r>
              <a:rPr lang="fr-FR" sz="1400" dirty="0">
                <a:solidFill>
                  <a:schemeClr val="bg1"/>
                </a:solidFill>
                <a:latin typeface="Bahnschrift" panose="020B0502040204020203" pitchFamily="34" charset="0"/>
              </a:rPr>
              <a:t>de chaque faille</a:t>
            </a:r>
            <a:endParaRPr lang="fr-FR" sz="16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EA1193-432B-1648-C2E5-334433B05185}"/>
              </a:ext>
            </a:extLst>
          </p:cNvPr>
          <p:cNvSpPr txBox="1"/>
          <p:nvPr/>
        </p:nvSpPr>
        <p:spPr>
          <a:xfrm>
            <a:off x="11542980" y="6511636"/>
            <a:ext cx="274319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4/12</a:t>
            </a:r>
          </a:p>
        </p:txBody>
      </p:sp>
    </p:spTree>
    <p:extLst>
      <p:ext uri="{BB962C8B-B14F-4D97-AF65-F5344CB8AC3E}">
        <p14:creationId xmlns:p14="http://schemas.microsoft.com/office/powerpoint/2010/main" val="3043172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6650C91-6A91-4EEC-8593-FCA45D084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01696"/>
            <a:ext cx="12191999" cy="59550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76E36C-C0DF-4815-B697-1FCB15E2C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896" y="0"/>
            <a:ext cx="11903103" cy="901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36BF5D-F014-463C-9C93-5AE15B2CB6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-1"/>
            <a:ext cx="288896" cy="9017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A632A79-5A72-4289-AC42-1398C5BC6AED}"/>
              </a:ext>
            </a:extLst>
          </p:cNvPr>
          <p:cNvSpPr txBox="1"/>
          <p:nvPr/>
        </p:nvSpPr>
        <p:spPr>
          <a:xfrm>
            <a:off x="393700" y="220016"/>
            <a:ext cx="873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bg1"/>
                </a:solidFill>
                <a:latin typeface="Bahnschrift" panose="020B0502040204020203" pitchFamily="34" charset="0"/>
              </a:rPr>
              <a:t>BOITE A OUTILS 100% OPEN SOURCE</a:t>
            </a:r>
            <a:endParaRPr lang="fr-FR" sz="2400" b="1" dirty="0">
              <a:solidFill>
                <a:schemeClr val="accent2"/>
              </a:solidFill>
              <a:latin typeface="Bahnschrift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B66C4B-2721-4F12-A3F4-FF3A322C6A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697" y="1121713"/>
            <a:ext cx="2073304" cy="53658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2BBD076-B3E5-41BE-919F-61E1FBB1CC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8969" y="1102657"/>
            <a:ext cx="2073304" cy="53658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9EBCFE7-1968-4375-AD3A-A36AA84C2A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1897" y="1121713"/>
            <a:ext cx="2073304" cy="53658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F428D9B-3E55-41EE-8C1D-2996980856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6097" y="1121713"/>
            <a:ext cx="2073304" cy="53658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8D7D469-EB65-4238-BFD8-4CDCE6F4A3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677" y="1121710"/>
            <a:ext cx="2073304" cy="53658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B691088-A640-4549-A957-0A5643C1D2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1894" y="1121712"/>
            <a:ext cx="2073303" cy="53658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9B82C1B-62B6-42AB-A8B9-88939446FE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36082" y="1121710"/>
            <a:ext cx="2073302" cy="53658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4868BB4-3683-4826-BF3A-4EFA2C2E9E5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7697" y="1674790"/>
            <a:ext cx="2073304" cy="478951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1A823D4-2C48-4B8E-9245-814BC67416C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44781" y="1674790"/>
            <a:ext cx="2073304" cy="478951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41D2CA5-A7F8-4578-AF8F-32EA1B8E71E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41894" y="1674790"/>
            <a:ext cx="2073304" cy="478951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D79AA65-2662-4C82-8AA7-364C8D0796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8989" y="1658295"/>
            <a:ext cx="2073304" cy="478951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CC27A21-C7C3-4EE6-B42A-A9BC8E7AA56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36081" y="1658295"/>
            <a:ext cx="2073304" cy="478951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4FB0740-60E7-4FE1-A75F-C0FC34B4A4F9}"/>
              </a:ext>
            </a:extLst>
          </p:cNvPr>
          <p:cNvSpPr txBox="1"/>
          <p:nvPr/>
        </p:nvSpPr>
        <p:spPr>
          <a:xfrm>
            <a:off x="2944785" y="1803392"/>
            <a:ext cx="2073291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rgbClr val="7030A0"/>
                </a:solidFill>
                <a:latin typeface="Bahnschrift" panose="020B0502040204020203" pitchFamily="34" charset="0"/>
              </a:rPr>
              <a:t>Empreinte domaine</a:t>
            </a:r>
          </a:p>
          <a:p>
            <a:endParaRPr lang="fr-FR" sz="14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algn="ctr"/>
            <a:r>
              <a:rPr lang="fr-FR" sz="1200" dirty="0">
                <a:solidFill>
                  <a:schemeClr val="bg1"/>
                </a:solidFill>
                <a:latin typeface="Bahnschrift" panose="020B0502040204020203" pitchFamily="34" charset="0"/>
              </a:rPr>
              <a:t>Propriétaire, dates,</a:t>
            </a:r>
          </a:p>
          <a:p>
            <a:pPr algn="ctr"/>
            <a:r>
              <a:rPr lang="fr-FR" sz="1200" dirty="0">
                <a:solidFill>
                  <a:schemeClr val="bg1"/>
                </a:solidFill>
                <a:latin typeface="Bahnschrift" panose="020B0502040204020203" pitchFamily="34" charset="0"/>
              </a:rPr>
              <a:t>Domaine, contacts</a:t>
            </a:r>
          </a:p>
          <a:p>
            <a:endParaRPr lang="fr-FR" sz="14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r>
              <a:rPr lang="fr-FR" sz="1400" dirty="0">
                <a:solidFill>
                  <a:srgbClr val="7030A0"/>
                </a:solidFill>
                <a:latin typeface="Bahnschrift" panose="020B0502040204020203" pitchFamily="34" charset="0"/>
              </a:rPr>
              <a:t>Ce qu’il trouve :</a:t>
            </a:r>
          </a:p>
          <a:p>
            <a:endParaRPr lang="fr-FR" sz="1200" dirty="0">
              <a:solidFill>
                <a:srgbClr val="00B0F0"/>
              </a:solidFill>
              <a:latin typeface="Bahnschrift" panose="020B0502040204020203" pitchFamily="34" charset="0"/>
            </a:endParaRPr>
          </a:p>
          <a:p>
            <a:pPr algn="ctr"/>
            <a:r>
              <a:rPr lang="fr-FR" sz="1200" dirty="0">
                <a:solidFill>
                  <a:schemeClr val="bg1"/>
                </a:solidFill>
                <a:latin typeface="Bahnschrift" panose="020B0502040204020203" pitchFamily="34" charset="0"/>
              </a:rPr>
              <a:t>Entité anonymisée</a:t>
            </a:r>
          </a:p>
          <a:p>
            <a:pPr marL="285750" indent="-285750" algn="ctr">
              <a:buFont typeface="Wingdings" panose="05000000000000000000" pitchFamily="2" charset="2"/>
              <a:buChar char="à"/>
            </a:pPr>
            <a:r>
              <a:rPr lang="fr-FR" sz="1200" dirty="0">
                <a:solidFill>
                  <a:schemeClr val="bg1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Bonne pratique</a:t>
            </a:r>
          </a:p>
          <a:p>
            <a:pPr algn="ctr"/>
            <a:endParaRPr lang="fr-FR" sz="1200" dirty="0">
              <a:solidFill>
                <a:schemeClr val="bg1"/>
              </a:solidFill>
              <a:latin typeface="Bahnschrift" panose="020B0502040204020203" pitchFamily="34" charset="0"/>
              <a:sym typeface="Wingdings" panose="05000000000000000000" pitchFamily="2" charset="2"/>
            </a:endParaRPr>
          </a:p>
          <a:p>
            <a:endParaRPr lang="fr-FR" sz="1200" dirty="0">
              <a:solidFill>
                <a:schemeClr val="bg1"/>
              </a:solidFill>
              <a:latin typeface="Bahnschrift" panose="020B0502040204020203" pitchFamily="34" charset="0"/>
              <a:sym typeface="Wingdings" panose="05000000000000000000" pitchFamily="2" charset="2"/>
            </a:endParaRPr>
          </a:p>
          <a:p>
            <a:r>
              <a:rPr lang="fr-FR" sz="1400" dirty="0">
                <a:solidFill>
                  <a:srgbClr val="00B050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Pourquoi ce choix :</a:t>
            </a:r>
          </a:p>
          <a:p>
            <a:endParaRPr lang="fr-FR" sz="1600" dirty="0">
              <a:solidFill>
                <a:srgbClr val="00B050"/>
              </a:solidFill>
              <a:latin typeface="Bahnschrift" panose="020B0502040204020203" pitchFamily="34" charset="0"/>
              <a:sym typeface="Wingdings" panose="05000000000000000000" pitchFamily="2" charset="2"/>
            </a:endParaRPr>
          </a:p>
          <a:p>
            <a:pPr algn="ctr"/>
            <a:r>
              <a:rPr lang="fr-FR" sz="1200" dirty="0">
                <a:solidFill>
                  <a:schemeClr val="bg1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Standard IETF gratuit, scriptable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A4928C4-5576-4CF7-A0ED-069EC2BBE5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8969" y="1138205"/>
            <a:ext cx="2073304" cy="53658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6B516F5-9C3F-4732-9C01-9E24AACC4C9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44780" y="1121710"/>
            <a:ext cx="2073303" cy="536585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77FE4B0B-0F09-4A0A-91C3-AD3227078E5B}"/>
              </a:ext>
            </a:extLst>
          </p:cNvPr>
          <p:cNvSpPr txBox="1"/>
          <p:nvPr/>
        </p:nvSpPr>
        <p:spPr>
          <a:xfrm>
            <a:off x="5141533" y="1803392"/>
            <a:ext cx="2073291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 err="1">
                <a:solidFill>
                  <a:srgbClr val="00B050"/>
                </a:solidFill>
                <a:latin typeface="Bahnschrift" panose="020B0502040204020203" pitchFamily="34" charset="0"/>
              </a:rPr>
              <a:t>Fingerprint</a:t>
            </a:r>
            <a:r>
              <a:rPr lang="fr-FR" sz="1400" b="1" dirty="0">
                <a:solidFill>
                  <a:srgbClr val="00B050"/>
                </a:solidFill>
                <a:latin typeface="Bahnschrift" panose="020B0502040204020203" pitchFamily="34" charset="0"/>
              </a:rPr>
              <a:t> techno</a:t>
            </a:r>
          </a:p>
          <a:p>
            <a:endParaRPr lang="fr-FR" sz="14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algn="ctr"/>
            <a:r>
              <a:rPr lang="fr-FR" sz="1200" dirty="0">
                <a:solidFill>
                  <a:schemeClr val="bg1"/>
                </a:solidFill>
                <a:latin typeface="Bahnschrift" panose="020B0502040204020203" pitchFamily="34" charset="0"/>
              </a:rPr>
              <a:t>Serveur, CMS, langages, version</a:t>
            </a:r>
          </a:p>
          <a:p>
            <a:endParaRPr lang="fr-FR" sz="14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r>
              <a:rPr lang="fr-FR" sz="1400" dirty="0">
                <a:solidFill>
                  <a:srgbClr val="00B050"/>
                </a:solidFill>
                <a:latin typeface="Bahnschrift" panose="020B0502040204020203" pitchFamily="34" charset="0"/>
              </a:rPr>
              <a:t>Ce qu’il trouve :</a:t>
            </a:r>
          </a:p>
          <a:p>
            <a:endParaRPr lang="fr-FR" sz="1200" dirty="0">
              <a:solidFill>
                <a:srgbClr val="00B0F0"/>
              </a:solidFill>
              <a:latin typeface="Bahnschrift" panose="020B0502040204020203" pitchFamily="34" charset="0"/>
            </a:endParaRPr>
          </a:p>
          <a:p>
            <a:pPr algn="ctr"/>
            <a:r>
              <a:rPr lang="fr-FR" sz="1200" dirty="0">
                <a:solidFill>
                  <a:schemeClr val="bg1"/>
                </a:solidFill>
                <a:latin typeface="Bahnschrift" panose="020B0502040204020203" pitchFamily="34" charset="0"/>
              </a:rPr>
              <a:t>Apache 2.4.65 + PHP 8.1.34 exposés</a:t>
            </a:r>
            <a:endParaRPr lang="fr-FR" sz="1200" dirty="0">
              <a:solidFill>
                <a:schemeClr val="bg1"/>
              </a:solidFill>
              <a:latin typeface="Bahnschrift" panose="020B0502040204020203" pitchFamily="34" charset="0"/>
              <a:sym typeface="Wingdings" panose="05000000000000000000" pitchFamily="2" charset="2"/>
            </a:endParaRPr>
          </a:p>
          <a:p>
            <a:pPr algn="ctr"/>
            <a:endParaRPr lang="fr-FR" sz="1200" dirty="0">
              <a:solidFill>
                <a:schemeClr val="bg1"/>
              </a:solidFill>
              <a:latin typeface="Bahnschrift" panose="020B0502040204020203" pitchFamily="34" charset="0"/>
              <a:sym typeface="Wingdings" panose="05000000000000000000" pitchFamily="2" charset="2"/>
            </a:endParaRPr>
          </a:p>
          <a:p>
            <a:endParaRPr lang="fr-FR" sz="1200" dirty="0">
              <a:solidFill>
                <a:schemeClr val="bg1"/>
              </a:solidFill>
              <a:latin typeface="Bahnschrift" panose="020B0502040204020203" pitchFamily="34" charset="0"/>
              <a:sym typeface="Wingdings" panose="05000000000000000000" pitchFamily="2" charset="2"/>
            </a:endParaRPr>
          </a:p>
          <a:p>
            <a:r>
              <a:rPr lang="fr-FR" sz="1400" dirty="0">
                <a:solidFill>
                  <a:srgbClr val="00B050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Pourquoi ce choix :</a:t>
            </a:r>
          </a:p>
          <a:p>
            <a:endParaRPr lang="fr-FR" sz="1600" dirty="0">
              <a:solidFill>
                <a:srgbClr val="00B050"/>
              </a:solidFill>
              <a:latin typeface="Bahnschrift" panose="020B0502040204020203" pitchFamily="34" charset="0"/>
              <a:sym typeface="Wingdings" panose="05000000000000000000" pitchFamily="2" charset="2"/>
            </a:endParaRPr>
          </a:p>
          <a:p>
            <a:pPr algn="ctr"/>
            <a:r>
              <a:rPr lang="fr-FR" sz="1200" dirty="0">
                <a:solidFill>
                  <a:schemeClr val="bg1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Rapide, léger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9079533-AE0B-4AA0-8617-ACC06B37B6E0}"/>
              </a:ext>
            </a:extLst>
          </p:cNvPr>
          <p:cNvSpPr txBox="1"/>
          <p:nvPr/>
        </p:nvSpPr>
        <p:spPr>
          <a:xfrm>
            <a:off x="747683" y="1803396"/>
            <a:ext cx="2073291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rgbClr val="00B0F0"/>
                </a:solidFill>
                <a:latin typeface="Bahnschrift" panose="020B0502040204020203" pitchFamily="34" charset="0"/>
              </a:rPr>
              <a:t>Cartographie réseau</a:t>
            </a:r>
          </a:p>
          <a:p>
            <a:endParaRPr lang="fr-FR" sz="14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algn="ctr"/>
            <a:r>
              <a:rPr lang="fr-FR" sz="1200" dirty="0">
                <a:solidFill>
                  <a:schemeClr val="bg1"/>
                </a:solidFill>
                <a:latin typeface="Bahnschrift" panose="020B0502040204020203" pitchFamily="34" charset="0"/>
              </a:rPr>
              <a:t>Ports ouverts, services actifs</a:t>
            </a:r>
          </a:p>
          <a:p>
            <a:endParaRPr lang="fr-FR" sz="14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r>
              <a:rPr lang="fr-FR" sz="1400" dirty="0">
                <a:solidFill>
                  <a:srgbClr val="00B0F0"/>
                </a:solidFill>
                <a:latin typeface="Bahnschrift" panose="020B0502040204020203" pitchFamily="34" charset="0"/>
              </a:rPr>
              <a:t>Ce qu’il trouve :</a:t>
            </a:r>
          </a:p>
          <a:p>
            <a:endParaRPr lang="fr-FR" sz="1200" dirty="0">
              <a:solidFill>
                <a:srgbClr val="00B0F0"/>
              </a:solidFill>
              <a:latin typeface="Bahnschrift" panose="020B0502040204020203" pitchFamily="34" charset="0"/>
            </a:endParaRPr>
          </a:p>
          <a:p>
            <a:pPr algn="ctr"/>
            <a:r>
              <a:rPr lang="fr-FR" sz="1200" dirty="0">
                <a:solidFill>
                  <a:schemeClr val="bg1"/>
                </a:solidFill>
                <a:latin typeface="Bahnschrift" panose="020B0502040204020203" pitchFamily="34" charset="0"/>
              </a:rPr>
              <a:t>Port 80 HTTP,</a:t>
            </a:r>
          </a:p>
          <a:p>
            <a:pPr algn="ctr"/>
            <a:r>
              <a:rPr lang="fr-FR" sz="1200" dirty="0">
                <a:solidFill>
                  <a:schemeClr val="bg1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Sans HTTPS</a:t>
            </a:r>
          </a:p>
          <a:p>
            <a:pPr algn="ctr"/>
            <a:endParaRPr lang="fr-FR" sz="1200" dirty="0">
              <a:solidFill>
                <a:schemeClr val="bg1"/>
              </a:solidFill>
              <a:latin typeface="Bahnschrift" panose="020B0502040204020203" pitchFamily="34" charset="0"/>
              <a:sym typeface="Wingdings" panose="05000000000000000000" pitchFamily="2" charset="2"/>
            </a:endParaRPr>
          </a:p>
          <a:p>
            <a:endParaRPr lang="fr-FR" sz="1200" dirty="0">
              <a:solidFill>
                <a:schemeClr val="bg1"/>
              </a:solidFill>
              <a:latin typeface="Bahnschrift" panose="020B0502040204020203" pitchFamily="34" charset="0"/>
              <a:sym typeface="Wingdings" panose="05000000000000000000" pitchFamily="2" charset="2"/>
            </a:endParaRPr>
          </a:p>
          <a:p>
            <a:r>
              <a:rPr lang="fr-FR" sz="1400" dirty="0">
                <a:solidFill>
                  <a:srgbClr val="00B050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Pourquoi ce choix :</a:t>
            </a:r>
          </a:p>
          <a:p>
            <a:endParaRPr lang="fr-FR" sz="1600" dirty="0">
              <a:solidFill>
                <a:srgbClr val="00B050"/>
              </a:solidFill>
              <a:latin typeface="Bahnschrift" panose="020B0502040204020203" pitchFamily="34" charset="0"/>
              <a:sym typeface="Wingdings" panose="05000000000000000000" pitchFamily="2" charset="2"/>
            </a:endParaRPr>
          </a:p>
          <a:p>
            <a:pPr algn="ctr"/>
            <a:r>
              <a:rPr lang="fr-FR" sz="1200" dirty="0">
                <a:solidFill>
                  <a:schemeClr val="bg1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Référence mondiale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20E8033-1D05-4F2C-9D7D-BA28D50C4944}"/>
              </a:ext>
            </a:extLst>
          </p:cNvPr>
          <p:cNvSpPr txBox="1"/>
          <p:nvPr/>
        </p:nvSpPr>
        <p:spPr>
          <a:xfrm>
            <a:off x="7338612" y="1803392"/>
            <a:ext cx="2073291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chemeClr val="accent2"/>
                </a:solidFill>
                <a:latin typeface="Bahnschrift" panose="020B0502040204020203" pitchFamily="34" charset="0"/>
              </a:rPr>
              <a:t>Zones cachées</a:t>
            </a:r>
          </a:p>
          <a:p>
            <a:endParaRPr lang="fr-FR" sz="14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algn="ctr"/>
            <a:r>
              <a:rPr lang="fr-FR" sz="1200" dirty="0">
                <a:solidFill>
                  <a:schemeClr val="bg1"/>
                </a:solidFill>
                <a:latin typeface="Bahnschrift" panose="020B0502040204020203" pitchFamily="34" charset="0"/>
              </a:rPr>
              <a:t>Dossiers et fichiers cachés exposés</a:t>
            </a:r>
          </a:p>
          <a:p>
            <a:endParaRPr lang="fr-FR" sz="14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r>
              <a:rPr lang="fr-FR" sz="1400" dirty="0">
                <a:solidFill>
                  <a:schemeClr val="accent2"/>
                </a:solidFill>
                <a:latin typeface="Bahnschrift" panose="020B0502040204020203" pitchFamily="34" charset="0"/>
              </a:rPr>
              <a:t>Ce qu’il trouve :</a:t>
            </a:r>
          </a:p>
          <a:p>
            <a:endParaRPr lang="fr-FR" sz="1200" dirty="0">
              <a:solidFill>
                <a:srgbClr val="00B0F0"/>
              </a:solidFill>
              <a:latin typeface="Bahnschrift" panose="020B0502040204020203" pitchFamily="34" charset="0"/>
            </a:endParaRPr>
          </a:p>
          <a:p>
            <a:pPr algn="ctr"/>
            <a:r>
              <a:rPr lang="fr-FR" sz="1200" dirty="0">
                <a:solidFill>
                  <a:schemeClr val="bg1"/>
                </a:solidFill>
                <a:latin typeface="Bahnschrift" panose="020B0502040204020203" pitchFamily="34" charset="0"/>
              </a:rPr>
              <a:t>/admin /backup /.</a:t>
            </a:r>
            <a:r>
              <a:rPr lang="fr-FR" sz="1200" dirty="0" err="1">
                <a:solidFill>
                  <a:schemeClr val="bg1"/>
                </a:solidFill>
                <a:latin typeface="Bahnschrift" panose="020B0502040204020203" pitchFamily="34" charset="0"/>
              </a:rPr>
              <a:t>env</a:t>
            </a:r>
            <a:r>
              <a:rPr lang="fr-FR" sz="1200" dirty="0">
                <a:solidFill>
                  <a:schemeClr val="bg1"/>
                </a:solidFill>
                <a:latin typeface="Bahnschrift" panose="020B0502040204020203" pitchFamily="34" charset="0"/>
              </a:rPr>
              <a:t> /robots.txt</a:t>
            </a:r>
            <a:endParaRPr lang="fr-FR" sz="1200" dirty="0">
              <a:solidFill>
                <a:schemeClr val="bg1"/>
              </a:solidFill>
              <a:latin typeface="Bahnschrift" panose="020B0502040204020203" pitchFamily="34" charset="0"/>
              <a:sym typeface="Wingdings" panose="05000000000000000000" pitchFamily="2" charset="2"/>
            </a:endParaRPr>
          </a:p>
          <a:p>
            <a:pPr algn="ctr"/>
            <a:endParaRPr lang="fr-FR" sz="1200" dirty="0">
              <a:solidFill>
                <a:schemeClr val="bg1"/>
              </a:solidFill>
              <a:latin typeface="Bahnschrift" panose="020B0502040204020203" pitchFamily="34" charset="0"/>
              <a:sym typeface="Wingdings" panose="05000000000000000000" pitchFamily="2" charset="2"/>
            </a:endParaRPr>
          </a:p>
          <a:p>
            <a:endParaRPr lang="fr-FR" sz="1200" dirty="0">
              <a:solidFill>
                <a:schemeClr val="bg1"/>
              </a:solidFill>
              <a:latin typeface="Bahnschrift" panose="020B0502040204020203" pitchFamily="34" charset="0"/>
              <a:sym typeface="Wingdings" panose="05000000000000000000" pitchFamily="2" charset="2"/>
            </a:endParaRPr>
          </a:p>
          <a:p>
            <a:r>
              <a:rPr lang="fr-FR" sz="1400" dirty="0">
                <a:solidFill>
                  <a:srgbClr val="00B050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Pourquoi ce choix :</a:t>
            </a:r>
          </a:p>
          <a:p>
            <a:endParaRPr lang="fr-FR" sz="1600" dirty="0">
              <a:solidFill>
                <a:srgbClr val="00B050"/>
              </a:solidFill>
              <a:latin typeface="Bahnschrift" panose="020B0502040204020203" pitchFamily="34" charset="0"/>
              <a:sym typeface="Wingdings" panose="05000000000000000000" pitchFamily="2" charset="2"/>
            </a:endParaRPr>
          </a:p>
          <a:p>
            <a:pPr algn="ctr"/>
            <a:r>
              <a:rPr lang="fr-FR" sz="1200" dirty="0">
                <a:solidFill>
                  <a:schemeClr val="bg1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Outil universel facile d’utilisation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33DE83D-9395-4ACB-8C09-286C527E613D}"/>
              </a:ext>
            </a:extLst>
          </p:cNvPr>
          <p:cNvSpPr txBox="1"/>
          <p:nvPr/>
        </p:nvSpPr>
        <p:spPr>
          <a:xfrm>
            <a:off x="9535887" y="1803392"/>
            <a:ext cx="2073291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rgbClr val="C00000"/>
                </a:solidFill>
                <a:latin typeface="Bahnschrift" panose="020B0502040204020203" pitchFamily="34" charset="0"/>
              </a:rPr>
              <a:t>Vulnérabilités web</a:t>
            </a:r>
          </a:p>
          <a:p>
            <a:endParaRPr lang="fr-FR" sz="14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algn="ctr"/>
            <a:r>
              <a:rPr lang="fr-FR" sz="1200" dirty="0">
                <a:solidFill>
                  <a:schemeClr val="bg1"/>
                </a:solidFill>
                <a:latin typeface="Bahnschrift" panose="020B0502040204020203" pitchFamily="34" charset="0"/>
              </a:rPr>
              <a:t>6700+ tests</a:t>
            </a:r>
          </a:p>
          <a:p>
            <a:pPr algn="ctr"/>
            <a:r>
              <a:rPr lang="fr-FR" sz="1200" dirty="0">
                <a:solidFill>
                  <a:schemeClr val="bg1"/>
                </a:solidFill>
                <a:latin typeface="Bahnschrift" panose="020B0502040204020203" pitchFamily="34" charset="0"/>
              </a:rPr>
              <a:t>Headers, </a:t>
            </a:r>
            <a:r>
              <a:rPr lang="fr-FR" sz="1200" dirty="0" err="1">
                <a:solidFill>
                  <a:schemeClr val="bg1"/>
                </a:solidFill>
                <a:latin typeface="Bahnschrift" panose="020B0502040204020203" pitchFamily="34" charset="0"/>
              </a:rPr>
              <a:t>misconfig</a:t>
            </a:r>
            <a:endParaRPr lang="fr-FR" sz="12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endParaRPr lang="fr-FR" sz="14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r>
              <a:rPr lang="fr-FR" sz="1400" dirty="0">
                <a:solidFill>
                  <a:srgbClr val="C00000"/>
                </a:solidFill>
                <a:latin typeface="Bahnschrift" panose="020B0502040204020203" pitchFamily="34" charset="0"/>
              </a:rPr>
              <a:t>Ce qu’il trouve :</a:t>
            </a:r>
          </a:p>
          <a:p>
            <a:endParaRPr lang="fr-FR" sz="1200" dirty="0">
              <a:solidFill>
                <a:srgbClr val="00B0F0"/>
              </a:solidFill>
              <a:latin typeface="Bahnschrift" panose="020B0502040204020203" pitchFamily="34" charset="0"/>
            </a:endParaRPr>
          </a:p>
          <a:p>
            <a:pPr algn="ctr"/>
            <a:r>
              <a:rPr lang="fr-FR" sz="1200" dirty="0">
                <a:solidFill>
                  <a:schemeClr val="bg1"/>
                </a:solidFill>
                <a:latin typeface="Bahnschrift" panose="020B0502040204020203" pitchFamily="34" charset="0"/>
              </a:rPr>
              <a:t>Headers manquants</a:t>
            </a:r>
          </a:p>
          <a:p>
            <a:pPr algn="ctr"/>
            <a:r>
              <a:rPr lang="fr-FR" sz="1200" dirty="0">
                <a:solidFill>
                  <a:schemeClr val="bg1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Vulnérabilités connues</a:t>
            </a:r>
          </a:p>
          <a:p>
            <a:pPr algn="ctr"/>
            <a:endParaRPr lang="fr-FR" sz="1200" dirty="0">
              <a:solidFill>
                <a:schemeClr val="bg1"/>
              </a:solidFill>
              <a:latin typeface="Bahnschrift" panose="020B0502040204020203" pitchFamily="34" charset="0"/>
              <a:sym typeface="Wingdings" panose="05000000000000000000" pitchFamily="2" charset="2"/>
            </a:endParaRPr>
          </a:p>
          <a:p>
            <a:endParaRPr lang="fr-FR" sz="1200" dirty="0">
              <a:solidFill>
                <a:schemeClr val="bg1"/>
              </a:solidFill>
              <a:latin typeface="Bahnschrift" panose="020B0502040204020203" pitchFamily="34" charset="0"/>
              <a:sym typeface="Wingdings" panose="05000000000000000000" pitchFamily="2" charset="2"/>
            </a:endParaRPr>
          </a:p>
          <a:p>
            <a:r>
              <a:rPr lang="fr-FR" sz="1400" dirty="0">
                <a:solidFill>
                  <a:srgbClr val="00B050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Pourquoi ce choix :</a:t>
            </a:r>
          </a:p>
          <a:p>
            <a:endParaRPr lang="fr-FR" sz="1600" dirty="0">
              <a:solidFill>
                <a:srgbClr val="00B050"/>
              </a:solidFill>
              <a:latin typeface="Bahnschrift" panose="020B0502040204020203" pitchFamily="34" charset="0"/>
              <a:sym typeface="Wingdings" panose="05000000000000000000" pitchFamily="2" charset="2"/>
            </a:endParaRPr>
          </a:p>
          <a:p>
            <a:pPr algn="ctr"/>
            <a:r>
              <a:rPr lang="fr-FR" sz="1200" dirty="0">
                <a:solidFill>
                  <a:schemeClr val="bg1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6700+ tests intégrés sans licence</a:t>
            </a: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9DC06EEF-8D61-4F1E-A709-EDF22632C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022" y="1136144"/>
            <a:ext cx="914611" cy="48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WhatWeb — Multi-Device WhatsApp Platform">
            <a:extLst>
              <a:ext uri="{FF2B5EF4-FFF2-40B4-BE49-F238E27FC236}">
                <a16:creationId xmlns:a16="http://schemas.microsoft.com/office/drawing/2014/main" id="{4CF842F9-CAF0-404D-A57E-0CDE982BF9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3816" y="1167395"/>
            <a:ext cx="1588707" cy="407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Whois API for phishing and brand-abuse detection | Netscylla's Blog">
            <a:extLst>
              <a:ext uri="{FF2B5EF4-FFF2-40B4-BE49-F238E27FC236}">
                <a16:creationId xmlns:a16="http://schemas.microsoft.com/office/drawing/2014/main" id="{993EE85A-57C8-49C3-AE12-A5EDBE18B9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1550" y="1071332"/>
            <a:ext cx="1019745" cy="637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Day 44 - Unleashing Gobuster: Your Go-To Tool for Web and DNS Enumeration!">
            <a:extLst>
              <a:ext uri="{FF2B5EF4-FFF2-40B4-BE49-F238E27FC236}">
                <a16:creationId xmlns:a16="http://schemas.microsoft.com/office/drawing/2014/main" id="{C3DB22C4-4C9B-4A37-BA0E-3BE0D8200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7868" y="1116456"/>
            <a:ext cx="1674777" cy="541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AF8779F-5094-4BB9-ABA1-38754DE1853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70957" y="1121548"/>
            <a:ext cx="1403149" cy="5191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E34A4E7-770C-F1A0-0760-08D74F01CF1B}"/>
              </a:ext>
            </a:extLst>
          </p:cNvPr>
          <p:cNvSpPr txBox="1"/>
          <p:nvPr/>
        </p:nvSpPr>
        <p:spPr>
          <a:xfrm>
            <a:off x="11542980" y="6511636"/>
            <a:ext cx="274319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5/12</a:t>
            </a:r>
          </a:p>
        </p:txBody>
      </p:sp>
    </p:spTree>
    <p:extLst>
      <p:ext uri="{BB962C8B-B14F-4D97-AF65-F5344CB8AC3E}">
        <p14:creationId xmlns:p14="http://schemas.microsoft.com/office/powerpoint/2010/main" val="712773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D18B75A-3CA3-473C-9E7D-1B4D366CA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01700"/>
            <a:ext cx="12191999" cy="5956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76E36C-C0DF-4815-B697-1FCB15E2C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896" y="0"/>
            <a:ext cx="11903103" cy="901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36BF5D-F014-463C-9C93-5AE15B2CB6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-1"/>
            <a:ext cx="288896" cy="9017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A632A79-5A72-4289-AC42-1398C5BC6AED}"/>
              </a:ext>
            </a:extLst>
          </p:cNvPr>
          <p:cNvSpPr txBox="1"/>
          <p:nvPr/>
        </p:nvSpPr>
        <p:spPr>
          <a:xfrm>
            <a:off x="393700" y="220016"/>
            <a:ext cx="873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bg1"/>
                </a:solidFill>
                <a:latin typeface="Bahnschrift" panose="020B0502040204020203" pitchFamily="34" charset="0"/>
              </a:rPr>
              <a:t>MODE SIMPLE – Diagnostic Rapide</a:t>
            </a:r>
            <a:endParaRPr lang="fr-FR" sz="2400" b="1" dirty="0">
              <a:solidFill>
                <a:schemeClr val="accent2"/>
              </a:solidFill>
              <a:latin typeface="Bahnschrift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A24342-A769-42B0-A55F-934EE4EC52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01696"/>
            <a:ext cx="12191998" cy="59562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2026446-6223-4E59-B0EF-AB2F2DEBB3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985" y="1108547"/>
            <a:ext cx="6906455" cy="384770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3EC6AA7-9FA8-48FB-BE84-C08FE6202A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429" y="1112718"/>
            <a:ext cx="132571" cy="6906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E491E48-6CC6-40CC-AE54-7021334945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429" y="1853161"/>
            <a:ext cx="132571" cy="69067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A0214AA-9844-4554-A5DD-7805412F54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428" y="2594635"/>
            <a:ext cx="132571" cy="69067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3849B34-1FD5-4018-A874-4C3BF19310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428" y="3334727"/>
            <a:ext cx="132571" cy="69067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FCA611B-0AB9-470A-AC1D-73AED16339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428" y="4074819"/>
            <a:ext cx="132571" cy="6906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7843297-E8C3-4913-A54F-3184C044B3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0428" y="1853161"/>
            <a:ext cx="132572" cy="70477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3E02794-7D36-4932-AD47-5E1132CC76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60427" y="2593253"/>
            <a:ext cx="139687" cy="70010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FB57B8A-08D8-4715-941A-C6FC2CAC5B7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60427" y="3335764"/>
            <a:ext cx="139687" cy="68964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010F73E-B47A-45B6-B29E-D3D1792D2B0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60427" y="4066770"/>
            <a:ext cx="132571" cy="71822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A6751EA-4952-4E47-BEA8-0F0A8360110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00114" y="1108547"/>
            <a:ext cx="4566429" cy="69612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8CEAB734-37B0-4E8D-80B2-F432C94C45E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00114" y="1840723"/>
            <a:ext cx="4566429" cy="736347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5BDD3A5-CEA2-4BA0-A699-9EA88395784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00114" y="2603025"/>
            <a:ext cx="4566429" cy="69612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613AE4DD-5F68-45C6-A43D-B76CCE65EE0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00114" y="3325107"/>
            <a:ext cx="4566429" cy="69612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55727BC0-933E-4E4A-92D0-1CAA9D7A5D6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92997" y="4057846"/>
            <a:ext cx="4566429" cy="7157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D507CF23-FABE-4D9D-A14C-B684BA6D9B8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60427" y="4960427"/>
            <a:ext cx="4706117" cy="1770618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FB26D57B-90CC-4F59-B27C-4C8D90214B55}"/>
              </a:ext>
            </a:extLst>
          </p:cNvPr>
          <p:cNvSpPr txBox="1"/>
          <p:nvPr/>
        </p:nvSpPr>
        <p:spPr>
          <a:xfrm>
            <a:off x="7507228" y="1143456"/>
            <a:ext cx="4457786" cy="547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chemeClr val="accent2"/>
                </a:solidFill>
                <a:latin typeface="Bahnschrift" panose="020B0502040204020203" pitchFamily="34" charset="0"/>
              </a:rPr>
              <a:t>Public cible</a:t>
            </a:r>
          </a:p>
          <a:p>
            <a:pPr>
              <a:lnSpc>
                <a:spcPct val="200000"/>
              </a:lnSpc>
            </a:pPr>
            <a:r>
              <a:rPr lang="fr-FR" sz="1050" dirty="0">
                <a:solidFill>
                  <a:schemeClr val="bg1"/>
                </a:solidFill>
                <a:latin typeface="Bahnschrift" panose="020B0502040204020203" pitchFamily="34" charset="0"/>
              </a:rPr>
              <a:t>Le dirigeant – Aucune compétence technique  /  Vérification de routine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1117168-8942-4CFA-9C68-41A122BCFD9E}"/>
              </a:ext>
            </a:extLst>
          </p:cNvPr>
          <p:cNvSpPr txBox="1"/>
          <p:nvPr/>
        </p:nvSpPr>
        <p:spPr>
          <a:xfrm>
            <a:off x="7507228" y="1877474"/>
            <a:ext cx="4051240" cy="547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rgbClr val="00B0F0"/>
                </a:solidFill>
                <a:latin typeface="Bahnschrift" panose="020B0502040204020203" pitchFamily="34" charset="0"/>
              </a:rPr>
              <a:t>Durée</a:t>
            </a:r>
          </a:p>
          <a:p>
            <a:pPr>
              <a:lnSpc>
                <a:spcPct val="200000"/>
              </a:lnSpc>
            </a:pPr>
            <a:r>
              <a:rPr lang="fr-FR" sz="1050" dirty="0">
                <a:solidFill>
                  <a:schemeClr val="bg1"/>
                </a:solidFill>
                <a:latin typeface="Bahnschrift" panose="020B0502040204020203" pitchFamily="34" charset="0"/>
              </a:rPr>
              <a:t>~ 30 secondes à 1 minute maximum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5B0778C-1A0F-405D-B826-8C569623E1D1}"/>
              </a:ext>
            </a:extLst>
          </p:cNvPr>
          <p:cNvSpPr txBox="1"/>
          <p:nvPr/>
        </p:nvSpPr>
        <p:spPr>
          <a:xfrm>
            <a:off x="7507228" y="2629786"/>
            <a:ext cx="4051240" cy="547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rgbClr val="00B050"/>
                </a:solidFill>
                <a:latin typeface="Bahnschrift" panose="020B0502040204020203" pitchFamily="34" charset="0"/>
              </a:rPr>
              <a:t>Outils actifs</a:t>
            </a:r>
          </a:p>
          <a:p>
            <a:pPr>
              <a:lnSpc>
                <a:spcPct val="200000"/>
              </a:lnSpc>
            </a:pPr>
            <a:r>
              <a:rPr lang="fr-FR" sz="1050" dirty="0">
                <a:solidFill>
                  <a:schemeClr val="bg1"/>
                </a:solidFill>
                <a:latin typeface="Bahnschrift" panose="020B0502040204020203" pitchFamily="34" charset="0"/>
              </a:rPr>
              <a:t>Whois – </a:t>
            </a:r>
            <a:r>
              <a:rPr lang="fr-FR" sz="1050" dirty="0" err="1">
                <a:solidFill>
                  <a:schemeClr val="bg1"/>
                </a:solidFill>
                <a:latin typeface="Bahnschrift" panose="020B0502040204020203" pitchFamily="34" charset="0"/>
              </a:rPr>
              <a:t>WhatWeb</a:t>
            </a:r>
            <a:r>
              <a:rPr lang="fr-FR" sz="1050" dirty="0">
                <a:solidFill>
                  <a:schemeClr val="bg1"/>
                </a:solidFill>
                <a:latin typeface="Bahnschrift" panose="020B0502040204020203" pitchFamily="34" charset="0"/>
              </a:rPr>
              <a:t> – </a:t>
            </a:r>
            <a:r>
              <a:rPr lang="fr-FR" sz="1050" dirty="0" err="1">
                <a:solidFill>
                  <a:schemeClr val="bg1"/>
                </a:solidFill>
                <a:latin typeface="Bahnschrift" panose="020B0502040204020203" pitchFamily="34" charset="0"/>
              </a:rPr>
              <a:t>Nmap</a:t>
            </a:r>
            <a:r>
              <a:rPr lang="fr-FR" sz="1050" dirty="0">
                <a:solidFill>
                  <a:schemeClr val="bg1"/>
                </a:solidFill>
                <a:latin typeface="Bahnschrift" panose="020B0502040204020203" pitchFamily="34" charset="0"/>
              </a:rPr>
              <a:t> (top 100 ports) – </a:t>
            </a:r>
            <a:r>
              <a:rPr lang="fr-FR" sz="1050" dirty="0" err="1">
                <a:solidFill>
                  <a:schemeClr val="bg1"/>
                </a:solidFill>
                <a:latin typeface="Bahnschrift" panose="020B0502040204020203" pitchFamily="34" charset="0"/>
              </a:rPr>
              <a:t>Nikto</a:t>
            </a:r>
            <a:r>
              <a:rPr lang="fr-FR" sz="1050" dirty="0">
                <a:solidFill>
                  <a:schemeClr val="bg1"/>
                </a:solidFill>
                <a:latin typeface="Bahnschrift" panose="020B0502040204020203" pitchFamily="34" charset="0"/>
              </a:rPr>
              <a:t> (scan rapide)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5B96354-2808-49E2-8D7E-89724726ED7F}"/>
              </a:ext>
            </a:extLst>
          </p:cNvPr>
          <p:cNvSpPr txBox="1"/>
          <p:nvPr/>
        </p:nvSpPr>
        <p:spPr>
          <a:xfrm>
            <a:off x="7507227" y="3351868"/>
            <a:ext cx="4457787" cy="547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rgbClr val="C00000"/>
                </a:solidFill>
                <a:latin typeface="Bahnschrift" panose="020B0502040204020203" pitchFamily="34" charset="0"/>
              </a:rPr>
              <a:t>Fonctionnement</a:t>
            </a:r>
          </a:p>
          <a:p>
            <a:pPr>
              <a:lnSpc>
                <a:spcPct val="200000"/>
              </a:lnSpc>
            </a:pPr>
            <a:r>
              <a:rPr lang="fr-FR" sz="1050" dirty="0">
                <a:solidFill>
                  <a:schemeClr val="bg1"/>
                </a:solidFill>
                <a:latin typeface="Bahnschrift" panose="020B0502040204020203" pitchFamily="34" charset="0"/>
              </a:rPr>
              <a:t>Cible uniquement les vulnérabilités les plus courantes (Top 10 OWASP)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1443953-5C8C-4FEF-AA68-BE2257A8CD35}"/>
              </a:ext>
            </a:extLst>
          </p:cNvPr>
          <p:cNvSpPr txBox="1"/>
          <p:nvPr/>
        </p:nvSpPr>
        <p:spPr>
          <a:xfrm>
            <a:off x="7507228" y="4073950"/>
            <a:ext cx="4051240" cy="547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rgbClr val="7030A0"/>
                </a:solidFill>
                <a:latin typeface="Bahnschrift" panose="020B0502040204020203" pitchFamily="34" charset="0"/>
              </a:rPr>
              <a:t>Rapport</a:t>
            </a:r>
          </a:p>
          <a:p>
            <a:pPr>
              <a:lnSpc>
                <a:spcPct val="200000"/>
              </a:lnSpc>
            </a:pPr>
            <a:r>
              <a:rPr lang="fr-FR" sz="1050" dirty="0">
                <a:solidFill>
                  <a:schemeClr val="bg1"/>
                </a:solidFill>
                <a:latin typeface="Bahnschrift" panose="020B0502040204020203" pitchFamily="34" charset="0"/>
              </a:rPr>
              <a:t>PDF 2 pages : jauge + radar + recommandations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4DE87F6-9418-4D0D-9E6A-3ABA1991731D}"/>
              </a:ext>
            </a:extLst>
          </p:cNvPr>
          <p:cNvSpPr txBox="1"/>
          <p:nvPr/>
        </p:nvSpPr>
        <p:spPr>
          <a:xfrm>
            <a:off x="1889952" y="4864452"/>
            <a:ext cx="3500862" cy="401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fr-FR" sz="1200" i="1" u="sng" dirty="0">
                <a:solidFill>
                  <a:schemeClr val="bg1"/>
                </a:solidFill>
                <a:latin typeface="Bahnschrift" panose="020B0502040204020203" pitchFamily="34" charset="0"/>
              </a:rPr>
              <a:t>Interface BouzuSec – Mode Simple Sélectionné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B1149412-C129-44FC-BD91-4029666C9C9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72647" y="5420115"/>
            <a:ext cx="2058927" cy="8840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B9EA564-5067-AD72-8157-E9D1C887E2A9}"/>
              </a:ext>
            </a:extLst>
          </p:cNvPr>
          <p:cNvSpPr txBox="1"/>
          <p:nvPr/>
        </p:nvSpPr>
        <p:spPr>
          <a:xfrm>
            <a:off x="11552051" y="6393707"/>
            <a:ext cx="274319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>
                <a:latin typeface="Calibri Light"/>
                <a:ea typeface="Calibri Light"/>
                <a:cs typeface="Calibri Light"/>
              </a:rPr>
              <a:t>6/12</a:t>
            </a:r>
          </a:p>
        </p:txBody>
      </p:sp>
    </p:spTree>
    <p:extLst>
      <p:ext uri="{BB962C8B-B14F-4D97-AF65-F5344CB8AC3E}">
        <p14:creationId xmlns:p14="http://schemas.microsoft.com/office/powerpoint/2010/main" val="1152996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D18B75A-3CA3-473C-9E7D-1B4D366CA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01700"/>
            <a:ext cx="12191999" cy="5956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76E36C-C0DF-4815-B697-1FCB15E2C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896" y="0"/>
            <a:ext cx="11903103" cy="901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36BF5D-F014-463C-9C93-5AE15B2CB6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-1"/>
            <a:ext cx="288896" cy="9017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A632A79-5A72-4289-AC42-1398C5BC6AED}"/>
              </a:ext>
            </a:extLst>
          </p:cNvPr>
          <p:cNvSpPr txBox="1"/>
          <p:nvPr/>
        </p:nvSpPr>
        <p:spPr>
          <a:xfrm>
            <a:off x="393700" y="220016"/>
            <a:ext cx="873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bg1"/>
                </a:solidFill>
                <a:latin typeface="Bahnschrift" panose="020B0502040204020203" pitchFamily="34" charset="0"/>
              </a:rPr>
              <a:t>MODE AVANCE – L’audit Technique Exhaustif</a:t>
            </a:r>
            <a:endParaRPr lang="fr-FR" sz="2400" b="1" dirty="0">
              <a:solidFill>
                <a:schemeClr val="accent2"/>
              </a:solidFill>
              <a:latin typeface="Bahnschrift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A24342-A769-42B0-A55F-934EE4EC52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01696"/>
            <a:ext cx="12191998" cy="59562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3EC6AA7-9FA8-48FB-BE84-C08FE6202A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429" y="1112718"/>
            <a:ext cx="132571" cy="6906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E491E48-6CC6-40CC-AE54-7021334945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429" y="1853161"/>
            <a:ext cx="132571" cy="69067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A0214AA-9844-4554-A5DD-7805412F54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428" y="2594635"/>
            <a:ext cx="132571" cy="69067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3849B34-1FD5-4018-A874-4C3BF19310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428" y="3334727"/>
            <a:ext cx="132571" cy="69067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FCA611B-0AB9-470A-AC1D-73AED16339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428" y="4074819"/>
            <a:ext cx="132571" cy="6906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7843297-E8C3-4913-A54F-3184C044B3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0428" y="1853161"/>
            <a:ext cx="132572" cy="70477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3E02794-7D36-4932-AD47-5E1132CC76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0427" y="2593253"/>
            <a:ext cx="139687" cy="70010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FB57B8A-08D8-4715-941A-C6FC2CAC5B7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60427" y="3335764"/>
            <a:ext cx="139687" cy="68964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010F73E-B47A-45B6-B29E-D3D1792D2B0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60427" y="4066770"/>
            <a:ext cx="132571" cy="71822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A6751EA-4952-4E47-BEA8-0F0A8360110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00114" y="1108547"/>
            <a:ext cx="4566429" cy="69612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8CEAB734-37B0-4E8D-80B2-F432C94C45E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00114" y="1840723"/>
            <a:ext cx="4566429" cy="736347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5BDD3A5-CEA2-4BA0-A699-9EA88395784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00114" y="2603025"/>
            <a:ext cx="4566429" cy="69612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613AE4DD-5F68-45C6-A43D-B76CCE65EE0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00114" y="3325107"/>
            <a:ext cx="4566429" cy="69612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55727BC0-933E-4E4A-92D0-1CAA9D7A5D6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92997" y="4057846"/>
            <a:ext cx="4566429" cy="7157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FB26D57B-90CC-4F59-B27C-4C8D90214B55}"/>
              </a:ext>
            </a:extLst>
          </p:cNvPr>
          <p:cNvSpPr txBox="1"/>
          <p:nvPr/>
        </p:nvSpPr>
        <p:spPr>
          <a:xfrm>
            <a:off x="7507228" y="1143456"/>
            <a:ext cx="4051240" cy="547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chemeClr val="accent2"/>
                </a:solidFill>
                <a:latin typeface="Bahnschrift" panose="020B0502040204020203" pitchFamily="34" charset="0"/>
              </a:rPr>
              <a:t>Public cible</a:t>
            </a:r>
          </a:p>
          <a:p>
            <a:pPr>
              <a:lnSpc>
                <a:spcPct val="200000"/>
              </a:lnSpc>
            </a:pPr>
            <a:r>
              <a:rPr lang="fr-FR" sz="1050" dirty="0">
                <a:solidFill>
                  <a:schemeClr val="bg1"/>
                </a:solidFill>
                <a:latin typeface="Bahnschrift" panose="020B0502040204020203" pitchFamily="34" charset="0"/>
              </a:rPr>
              <a:t>Equipe techniques, DSI, Administrateurs système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1117168-8942-4CFA-9C68-41A122BCFD9E}"/>
              </a:ext>
            </a:extLst>
          </p:cNvPr>
          <p:cNvSpPr txBox="1"/>
          <p:nvPr/>
        </p:nvSpPr>
        <p:spPr>
          <a:xfrm>
            <a:off x="7507228" y="1877474"/>
            <a:ext cx="4051240" cy="547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rgbClr val="00B0F0"/>
                </a:solidFill>
                <a:latin typeface="Bahnschrift" panose="020B0502040204020203" pitchFamily="34" charset="0"/>
              </a:rPr>
              <a:t>Durée</a:t>
            </a:r>
          </a:p>
          <a:p>
            <a:pPr>
              <a:lnSpc>
                <a:spcPct val="200000"/>
              </a:lnSpc>
            </a:pPr>
            <a:r>
              <a:rPr lang="fr-FR" sz="1050" dirty="0">
                <a:solidFill>
                  <a:schemeClr val="bg1"/>
                </a:solidFill>
                <a:latin typeface="Bahnschrift" panose="020B0502040204020203" pitchFamily="34" charset="0"/>
              </a:rPr>
              <a:t>~ 2 minutes à 5 minutes maximum (Analyse approfondie)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5B0778C-1A0F-405D-B826-8C569623E1D1}"/>
              </a:ext>
            </a:extLst>
          </p:cNvPr>
          <p:cNvSpPr txBox="1"/>
          <p:nvPr/>
        </p:nvSpPr>
        <p:spPr>
          <a:xfrm>
            <a:off x="7507228" y="2629786"/>
            <a:ext cx="4552198" cy="547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rgbClr val="00B050"/>
                </a:solidFill>
                <a:latin typeface="Bahnschrift" panose="020B0502040204020203" pitchFamily="34" charset="0"/>
              </a:rPr>
              <a:t>Outils actifs</a:t>
            </a:r>
          </a:p>
          <a:p>
            <a:pPr>
              <a:lnSpc>
                <a:spcPct val="200000"/>
              </a:lnSpc>
            </a:pPr>
            <a:r>
              <a:rPr lang="fr-FR" sz="1050" dirty="0">
                <a:solidFill>
                  <a:schemeClr val="bg1"/>
                </a:solidFill>
                <a:latin typeface="Bahnschrift" panose="020B0502040204020203" pitchFamily="34" charset="0"/>
              </a:rPr>
              <a:t>Whois – </a:t>
            </a:r>
            <a:r>
              <a:rPr lang="fr-FR" sz="1050" dirty="0" err="1">
                <a:solidFill>
                  <a:schemeClr val="bg1"/>
                </a:solidFill>
                <a:latin typeface="Bahnschrift" panose="020B0502040204020203" pitchFamily="34" charset="0"/>
              </a:rPr>
              <a:t>WhatWeb</a:t>
            </a:r>
            <a:r>
              <a:rPr lang="fr-FR" sz="1050" dirty="0">
                <a:solidFill>
                  <a:schemeClr val="bg1"/>
                </a:solidFill>
                <a:latin typeface="Bahnschrift" panose="020B0502040204020203" pitchFamily="34" charset="0"/>
              </a:rPr>
              <a:t> – </a:t>
            </a:r>
            <a:r>
              <a:rPr lang="fr-FR" sz="1050" dirty="0" err="1">
                <a:solidFill>
                  <a:schemeClr val="bg1"/>
                </a:solidFill>
                <a:latin typeface="Bahnschrift" panose="020B0502040204020203" pitchFamily="34" charset="0"/>
              </a:rPr>
              <a:t>Nmap</a:t>
            </a:r>
            <a:r>
              <a:rPr lang="fr-FR" sz="1050" dirty="0">
                <a:solidFill>
                  <a:schemeClr val="bg1"/>
                </a:solidFill>
                <a:latin typeface="Bahnschrift" panose="020B0502040204020203" pitchFamily="34" charset="0"/>
              </a:rPr>
              <a:t> (65535 ports) – </a:t>
            </a:r>
            <a:r>
              <a:rPr lang="fr-FR" sz="1050" dirty="0" err="1">
                <a:solidFill>
                  <a:schemeClr val="bg1"/>
                </a:solidFill>
                <a:latin typeface="Bahnschrift" panose="020B0502040204020203" pitchFamily="34" charset="0"/>
              </a:rPr>
              <a:t>Nikto</a:t>
            </a:r>
            <a:r>
              <a:rPr lang="fr-FR" sz="1050" dirty="0">
                <a:solidFill>
                  <a:schemeClr val="bg1"/>
                </a:solidFill>
                <a:latin typeface="Bahnschrift" panose="020B0502040204020203" pitchFamily="34" charset="0"/>
              </a:rPr>
              <a:t> - </a:t>
            </a:r>
            <a:r>
              <a:rPr lang="fr-FR" sz="1050" dirty="0" err="1">
                <a:solidFill>
                  <a:schemeClr val="bg1"/>
                </a:solidFill>
                <a:latin typeface="Bahnschrift" panose="020B0502040204020203" pitchFamily="34" charset="0"/>
              </a:rPr>
              <a:t>GoBuster</a:t>
            </a:r>
            <a:endParaRPr lang="fr-FR" sz="105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5B96354-2808-49E2-8D7E-89724726ED7F}"/>
              </a:ext>
            </a:extLst>
          </p:cNvPr>
          <p:cNvSpPr txBox="1"/>
          <p:nvPr/>
        </p:nvSpPr>
        <p:spPr>
          <a:xfrm>
            <a:off x="7507228" y="3351868"/>
            <a:ext cx="455219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rgbClr val="C00000"/>
                </a:solidFill>
                <a:latin typeface="Bahnschrift" panose="020B0502040204020203" pitchFamily="34" charset="0"/>
              </a:rPr>
              <a:t>Fonctionnement</a:t>
            </a:r>
          </a:p>
          <a:p>
            <a:r>
              <a:rPr lang="fr-FR" sz="1050" dirty="0">
                <a:solidFill>
                  <a:schemeClr val="bg1"/>
                </a:solidFill>
                <a:latin typeface="Bahnschrift" panose="020B0502040204020203" pitchFamily="34" charset="0"/>
              </a:rPr>
              <a:t>Les outils se configurent et se lancent dynamiquement en fonction des technologies découvertes en amont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1443953-5C8C-4FEF-AA68-BE2257A8CD35}"/>
              </a:ext>
            </a:extLst>
          </p:cNvPr>
          <p:cNvSpPr txBox="1"/>
          <p:nvPr/>
        </p:nvSpPr>
        <p:spPr>
          <a:xfrm>
            <a:off x="7507228" y="4073950"/>
            <a:ext cx="4395876" cy="547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rgbClr val="7030A0"/>
                </a:solidFill>
                <a:latin typeface="Bahnschrift" panose="020B0502040204020203" pitchFamily="34" charset="0"/>
              </a:rPr>
              <a:t>Rapport</a:t>
            </a:r>
          </a:p>
          <a:p>
            <a:pPr>
              <a:lnSpc>
                <a:spcPct val="200000"/>
              </a:lnSpc>
            </a:pPr>
            <a:r>
              <a:rPr lang="fr-FR" sz="1050" dirty="0">
                <a:solidFill>
                  <a:schemeClr val="bg1"/>
                </a:solidFill>
                <a:latin typeface="Bahnschrift" panose="020B0502040204020203" pitchFamily="34" charset="0"/>
              </a:rPr>
              <a:t>PDF complet (~ 7 pages), cartographie détaillée, logs, sorties brutes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4DE87F6-9418-4D0D-9E6A-3ABA1991731D}"/>
              </a:ext>
            </a:extLst>
          </p:cNvPr>
          <p:cNvSpPr txBox="1"/>
          <p:nvPr/>
        </p:nvSpPr>
        <p:spPr>
          <a:xfrm>
            <a:off x="1889952" y="4864452"/>
            <a:ext cx="3500862" cy="401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fr-FR" sz="1200" i="1" u="sng" dirty="0">
                <a:solidFill>
                  <a:schemeClr val="bg1"/>
                </a:solidFill>
                <a:latin typeface="Bahnschrift" panose="020B0502040204020203" pitchFamily="34" charset="0"/>
              </a:rPr>
              <a:t>Interface BouzuSec – Mode Avancé Sélectionné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372A0F-F672-4360-BB26-D359B8CE2A2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8896" y="1121716"/>
            <a:ext cx="6899942" cy="38387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8143673-68A2-492E-95AA-170E7DB9530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60427" y="4912418"/>
            <a:ext cx="4742014" cy="1725566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13DC0667-C144-49CC-B22C-DEB3BB4CCB8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72647" y="5420115"/>
            <a:ext cx="2058927" cy="8840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E5D2B9-E29D-F53E-C5A1-509BD4548EBA}"/>
              </a:ext>
            </a:extLst>
          </p:cNvPr>
          <p:cNvSpPr txBox="1"/>
          <p:nvPr/>
        </p:nvSpPr>
        <p:spPr>
          <a:xfrm>
            <a:off x="11552051" y="6312065"/>
            <a:ext cx="274319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>
                <a:latin typeface="Calibri Light"/>
                <a:ea typeface="Calibri Light"/>
                <a:cs typeface="Calibri Light"/>
              </a:rPr>
              <a:t>7/12</a:t>
            </a:r>
          </a:p>
        </p:txBody>
      </p:sp>
    </p:spTree>
    <p:extLst>
      <p:ext uri="{BB962C8B-B14F-4D97-AF65-F5344CB8AC3E}">
        <p14:creationId xmlns:p14="http://schemas.microsoft.com/office/powerpoint/2010/main" val="1942506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D18B75A-3CA3-473C-9E7D-1B4D366CA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01700"/>
            <a:ext cx="12191999" cy="5956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76E36C-C0DF-4815-B697-1FCB15E2C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896" y="0"/>
            <a:ext cx="11903103" cy="901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36BF5D-F014-463C-9C93-5AE15B2CB6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-1"/>
            <a:ext cx="288896" cy="9017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A632A79-5A72-4289-AC42-1398C5BC6AED}"/>
              </a:ext>
            </a:extLst>
          </p:cNvPr>
          <p:cNvSpPr txBox="1"/>
          <p:nvPr/>
        </p:nvSpPr>
        <p:spPr>
          <a:xfrm>
            <a:off x="393700" y="220016"/>
            <a:ext cx="929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bg1"/>
                </a:solidFill>
                <a:latin typeface="Bahnschrift" panose="020B0502040204020203" pitchFamily="34" charset="0"/>
              </a:rPr>
              <a:t>ARCHITECTURE – Une plateforme Centralisée et Conteneurisée</a:t>
            </a:r>
            <a:endParaRPr lang="fr-FR" sz="2400" b="1" dirty="0">
              <a:solidFill>
                <a:schemeClr val="accent2"/>
              </a:solidFill>
              <a:latin typeface="Bahnschrift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A24342-A769-42B0-A55F-934EE4EC52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01696"/>
            <a:ext cx="12191998" cy="5956299"/>
          </a:xfrm>
          <a:prstGeom prst="rect">
            <a:avLst/>
          </a:prstGeom>
        </p:spPr>
      </p:pic>
      <p:pic>
        <p:nvPicPr>
          <p:cNvPr id="4098" name="Picture 2" descr="Using Docker - PyXAI documentation">
            <a:extLst>
              <a:ext uri="{FF2B5EF4-FFF2-40B4-BE49-F238E27FC236}">
                <a16:creationId xmlns:a16="http://schemas.microsoft.com/office/drawing/2014/main" id="{FEA1C605-2406-4E72-89B9-6C6EB62C82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950" y="5021498"/>
            <a:ext cx="2528448" cy="1422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17F9B91-E3EF-479C-BC33-E8B19A26A5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2290" y="2799513"/>
            <a:ext cx="828791" cy="8668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21091FD-33E4-4A0E-BFA0-1A1E14CDC2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8481" y="1997840"/>
            <a:ext cx="1295581" cy="6382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01FFC35-EE52-4F0D-A75D-28B6B78D90E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61896" y="2247268"/>
            <a:ext cx="2038635" cy="244826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1774682-9805-4769-AD4E-78FC0B0FB86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56862" y="3104355"/>
            <a:ext cx="562053" cy="25721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AD8468B-AF9B-44A6-921F-B6479851A2D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57584" y="4314482"/>
            <a:ext cx="342948" cy="38105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20E81E6-3968-4DCB-8D1A-6BE0AEC8CE9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14370" y="1648259"/>
            <a:ext cx="1333686" cy="45726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8739687-2285-4D8A-927B-A7DBBEBE8C0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96495" y="1508080"/>
            <a:ext cx="1371791" cy="59063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6DBD54A-BC73-47E1-A303-746412325C3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75626" y="2245332"/>
            <a:ext cx="2203037" cy="206915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23A3423-1AB1-4595-B79C-23AB7C62CEB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24818" y="3104355"/>
            <a:ext cx="743547" cy="27626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475B93D-2476-43EE-9A26-88DD7C928B2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75626" y="3060315"/>
            <a:ext cx="320869" cy="38202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55A402C-5727-4D62-8BC0-EE0CB490740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81899" y="3759200"/>
            <a:ext cx="96763" cy="36427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729BDA3-9153-48FF-A3BC-C4A7B055139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16800" y="2245327"/>
            <a:ext cx="228598" cy="36427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474D114D-C2E4-444B-A580-56222D5DF19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6200000">
            <a:off x="7112731" y="2322527"/>
            <a:ext cx="743547" cy="27626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4B84474D-86AB-4B13-A3B9-02FBF8140E6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9163" y="1803396"/>
            <a:ext cx="743547" cy="27626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549242E5-A1AE-4541-84B2-DBBB1B64F0D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45922" y="2400498"/>
            <a:ext cx="743547" cy="27626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4F5FD1B-F704-4F73-97F7-1588D3267B9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45925" y="1820036"/>
            <a:ext cx="743547" cy="27626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D401DE5A-1B2F-474D-B538-D1653A99CB9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80327" y="1784153"/>
            <a:ext cx="2448267" cy="2314898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F3CEF431-50C6-4B17-B15F-506B7EE7E96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0800000">
            <a:off x="8145922" y="3624785"/>
            <a:ext cx="743547" cy="276265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5C7A6ECC-742D-4BA3-A0A4-D864F45F893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61769" y="4059026"/>
            <a:ext cx="743054" cy="514422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2B2ED1F2-446F-43CF-B84A-54123D4B6AB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818564" y="1190995"/>
            <a:ext cx="1371791" cy="457264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2453084D-E91C-4A12-9570-C3AAECAEE452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081742" y="5277541"/>
            <a:ext cx="2162803" cy="1125995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FC6A8CA3-6B01-42FB-BC28-368B1C75136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29257" y="5683355"/>
            <a:ext cx="981212" cy="314369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7251BADB-4CED-4854-8624-681E0B0D3D3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233003" y="5683355"/>
            <a:ext cx="981212" cy="314369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77D3F1B0-04E5-432A-AD3A-7F7FC0DA31E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958145" y="5683355"/>
            <a:ext cx="981212" cy="314369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D5D1A51F-1DDB-465A-8910-A8374FF4C691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5400000">
            <a:off x="6086537" y="4702130"/>
            <a:ext cx="981212" cy="314369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CA6A5ABE-BDBD-4457-8A77-629526CC836E}"/>
              </a:ext>
            </a:extLst>
          </p:cNvPr>
          <p:cNvSpPr txBox="1"/>
          <p:nvPr/>
        </p:nvSpPr>
        <p:spPr>
          <a:xfrm>
            <a:off x="6770991" y="5050237"/>
            <a:ext cx="21981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highlight>
                  <a:srgbClr val="C0C0C0"/>
                </a:highlight>
                <a:latin typeface="Arial Black" panose="020B0A04020102020204" pitchFamily="34" charset="0"/>
              </a:rPr>
              <a:t>Mise en forme (Script Python)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64666EC-4DB2-4915-809F-EF9460008390}"/>
              </a:ext>
            </a:extLst>
          </p:cNvPr>
          <p:cNvSpPr txBox="1"/>
          <p:nvPr/>
        </p:nvSpPr>
        <p:spPr>
          <a:xfrm>
            <a:off x="2744806" y="5430506"/>
            <a:ext cx="31685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highlight>
                  <a:srgbClr val="C0C0C0"/>
                </a:highlight>
                <a:latin typeface="Arial Black" panose="020B0A04020102020204" pitchFamily="34" charset="0"/>
              </a:rPr>
              <a:t>Notre solution est 100% Conteneurisé avec DOCKER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7A1D37D4-5675-464A-9894-0A49251AC9E9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98315" y="2812857"/>
            <a:ext cx="1574057" cy="6758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285DE5-9E24-06A8-6ADE-33BAF9805463}"/>
              </a:ext>
            </a:extLst>
          </p:cNvPr>
          <p:cNvSpPr txBox="1"/>
          <p:nvPr/>
        </p:nvSpPr>
        <p:spPr>
          <a:xfrm>
            <a:off x="11542980" y="6511636"/>
            <a:ext cx="274319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8/12</a:t>
            </a:r>
          </a:p>
        </p:txBody>
      </p:sp>
    </p:spTree>
    <p:extLst>
      <p:ext uri="{BB962C8B-B14F-4D97-AF65-F5344CB8AC3E}">
        <p14:creationId xmlns:p14="http://schemas.microsoft.com/office/powerpoint/2010/main" val="1695659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ADC1D4D9-73B2-4CFB-850E-4DE61C39C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01696"/>
            <a:ext cx="12191999" cy="59550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76E36C-C0DF-4815-B697-1FCB15E2C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896" y="0"/>
            <a:ext cx="11903103" cy="901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36BF5D-F014-463C-9C93-5AE15B2CB6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-1"/>
            <a:ext cx="288896" cy="9017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A632A79-5A72-4289-AC42-1398C5BC6AED}"/>
              </a:ext>
            </a:extLst>
          </p:cNvPr>
          <p:cNvSpPr txBox="1"/>
          <p:nvPr/>
        </p:nvSpPr>
        <p:spPr>
          <a:xfrm>
            <a:off x="393700" y="220016"/>
            <a:ext cx="873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bg1"/>
                </a:solidFill>
                <a:latin typeface="Bahnschrift" panose="020B0502040204020203" pitchFamily="34" charset="0"/>
              </a:rPr>
              <a:t>GENERATION DES PDF : De la Donnée brute au Rapport Clair</a:t>
            </a:r>
            <a:endParaRPr lang="fr-FR" sz="2400" b="1" dirty="0">
              <a:solidFill>
                <a:schemeClr val="accent2"/>
              </a:solidFill>
              <a:latin typeface="Bahnschrift" panose="020B0502040204020203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951E306-B35D-4B84-B138-2CF037B0C2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894" y="1743068"/>
            <a:ext cx="5741998" cy="477203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34B0DA1-72CB-4FE4-9714-214C2B6D180D}"/>
              </a:ext>
            </a:extLst>
          </p:cNvPr>
          <p:cNvSpPr txBox="1"/>
          <p:nvPr/>
        </p:nvSpPr>
        <p:spPr>
          <a:xfrm>
            <a:off x="393700" y="1862135"/>
            <a:ext cx="5092700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>
                <a:latin typeface="Bahnschrift" panose="020B0502040204020203" pitchFamily="34" charset="0"/>
              </a:rPr>
              <a:t>2-3 pages |  Pour un non connaisseur</a:t>
            </a:r>
          </a:p>
          <a:p>
            <a:endParaRPr lang="fr-FR" sz="1600" dirty="0">
              <a:latin typeface="Bahnschrift" panose="020B0502040204020203" pitchFamily="34" charset="0"/>
            </a:endParaRPr>
          </a:p>
          <a:p>
            <a:r>
              <a:rPr lang="fr-FR" sz="1400" dirty="0">
                <a:latin typeface="Bahnschrift" panose="020B0502040204020203" pitchFamily="34" charset="0"/>
              </a:rPr>
              <a:t>Page 1 : Dashboard</a:t>
            </a:r>
          </a:p>
          <a:p>
            <a:r>
              <a:rPr lang="fr-FR" sz="1300" dirty="0">
                <a:latin typeface="Bahnschrift" panose="020B0502040204020203" pitchFamily="34" charset="0"/>
              </a:rPr>
              <a:t>Jauge batterie + radar 5 axes + niveau ANSSI</a:t>
            </a:r>
          </a:p>
          <a:p>
            <a:endParaRPr lang="fr-FR" sz="1600" dirty="0">
              <a:latin typeface="Bahnschrift" panose="020B0502040204020203" pitchFamily="34" charset="0"/>
            </a:endParaRPr>
          </a:p>
          <a:p>
            <a:endParaRPr lang="fr-FR" sz="1600" dirty="0">
              <a:latin typeface="Bahnschrift" panose="020B0502040204020203" pitchFamily="34" charset="0"/>
            </a:endParaRPr>
          </a:p>
          <a:p>
            <a:endParaRPr lang="fr-FR" sz="1600" dirty="0">
              <a:latin typeface="Bahnschrift" panose="020B0502040204020203" pitchFamily="34" charset="0"/>
            </a:endParaRPr>
          </a:p>
          <a:p>
            <a:r>
              <a:rPr lang="fr-FR" sz="1400" dirty="0">
                <a:latin typeface="Bahnschrift" panose="020B0502040204020203" pitchFamily="34" charset="0"/>
              </a:rPr>
              <a:t>Page 2 : Vue d’ensemble</a:t>
            </a:r>
          </a:p>
          <a:p>
            <a:r>
              <a:rPr lang="fr-FR" sz="1300" dirty="0">
                <a:latin typeface="Bahnschrift" panose="020B0502040204020203" pitchFamily="34" charset="0"/>
              </a:rPr>
              <a:t>Résumé des 5 axes + recommandations prioritaires</a:t>
            </a:r>
          </a:p>
          <a:p>
            <a:endParaRPr lang="fr-FR" sz="1600" dirty="0">
              <a:latin typeface="Bahnschrift" panose="020B0502040204020203" pitchFamily="34" charset="0"/>
            </a:endParaRPr>
          </a:p>
          <a:p>
            <a:endParaRPr lang="fr-FR" sz="1600" dirty="0">
              <a:latin typeface="Bahnschrift" panose="020B0502040204020203" pitchFamily="34" charset="0"/>
            </a:endParaRPr>
          </a:p>
          <a:p>
            <a:endParaRPr lang="fr-FR" sz="1300" dirty="0">
              <a:latin typeface="Bahnschrift" panose="020B0502040204020203" pitchFamily="34" charset="0"/>
            </a:endParaRPr>
          </a:p>
          <a:p>
            <a:endParaRPr lang="fr-FR" sz="1600" dirty="0">
              <a:latin typeface="Bahnschrift" panose="020B0502040204020203" pitchFamily="34" charset="0"/>
            </a:endParaRPr>
          </a:p>
          <a:p>
            <a:r>
              <a:rPr lang="fr-FR" sz="1400" dirty="0">
                <a:solidFill>
                  <a:srgbClr val="00B050"/>
                </a:solidFill>
                <a:latin typeface="Bahnschrift" panose="020B0502040204020203" pitchFamily="34" charset="0"/>
              </a:rPr>
              <a:t>Objectif : décision en 2 minutes</a:t>
            </a:r>
          </a:p>
          <a:p>
            <a:r>
              <a:rPr lang="fr-FR" sz="1300" dirty="0">
                <a:latin typeface="Bahnschrift" panose="020B0502040204020203" pitchFamily="34" charset="0"/>
              </a:rPr>
              <a:t>Le dirigeant comprend immédiatement son niveau de risque et les actions à mener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51C7173-31FA-4067-BE13-593DCC3769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891" y="1114404"/>
            <a:ext cx="5741997" cy="62866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934D407B-1E2A-4FE0-B854-A8DBEA911415}"/>
              </a:ext>
            </a:extLst>
          </p:cNvPr>
          <p:cNvSpPr txBox="1"/>
          <p:nvPr/>
        </p:nvSpPr>
        <p:spPr>
          <a:xfrm>
            <a:off x="437294" y="1197904"/>
            <a:ext cx="449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bg1"/>
                </a:solidFill>
                <a:latin typeface="Bahnschrift" panose="020B0502040204020203" pitchFamily="34" charset="0"/>
              </a:rPr>
              <a:t>Rapport Simple</a:t>
            </a:r>
            <a:endParaRPr lang="fr-FR" sz="2400" b="1" dirty="0">
              <a:solidFill>
                <a:schemeClr val="accent2"/>
              </a:solidFill>
              <a:latin typeface="Bahnschrift" panose="020B05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BC231A-D54F-425C-A351-FBEA4F1F19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9291" y="1114404"/>
            <a:ext cx="2871057" cy="404985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98D99CE-8F09-4F64-B611-03C8871C41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98747" y="1114404"/>
            <a:ext cx="2874207" cy="4049854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929E1CE5-D0C5-4289-A87C-E5023C4A4152}"/>
              </a:ext>
            </a:extLst>
          </p:cNvPr>
          <p:cNvSpPr txBox="1"/>
          <p:nvPr/>
        </p:nvSpPr>
        <p:spPr>
          <a:xfrm>
            <a:off x="7147248" y="5164258"/>
            <a:ext cx="22463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i="1" u="sng" dirty="0">
                <a:solidFill>
                  <a:schemeClr val="bg1"/>
                </a:solidFill>
                <a:latin typeface="Bahnschrift" panose="020B0502040204020203" pitchFamily="34" charset="0"/>
              </a:rPr>
              <a:t>Page 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9182250-BB0A-4421-910D-4E86133E3B78}"/>
              </a:ext>
            </a:extLst>
          </p:cNvPr>
          <p:cNvSpPr txBox="1"/>
          <p:nvPr/>
        </p:nvSpPr>
        <p:spPr>
          <a:xfrm>
            <a:off x="10166704" y="5164258"/>
            <a:ext cx="9973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i="1" u="sng" dirty="0">
                <a:solidFill>
                  <a:schemeClr val="bg1"/>
                </a:solidFill>
                <a:latin typeface="Bahnschrift" panose="020B0502040204020203" pitchFamily="34" charset="0"/>
              </a:rPr>
              <a:t>Page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444382-31B9-7ADB-04D7-1174EA2F53AF}"/>
              </a:ext>
            </a:extLst>
          </p:cNvPr>
          <p:cNvSpPr txBox="1"/>
          <p:nvPr/>
        </p:nvSpPr>
        <p:spPr>
          <a:xfrm>
            <a:off x="11542980" y="6511636"/>
            <a:ext cx="274319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9/12</a:t>
            </a:r>
          </a:p>
        </p:txBody>
      </p:sp>
    </p:spTree>
    <p:extLst>
      <p:ext uri="{BB962C8B-B14F-4D97-AF65-F5344CB8AC3E}">
        <p14:creationId xmlns:p14="http://schemas.microsoft.com/office/powerpoint/2010/main" val="322003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D18B75A-3CA3-473C-9E7D-1B4D366CA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01700"/>
            <a:ext cx="12191999" cy="5956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76E36C-C0DF-4815-B697-1FCB15E2C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896" y="0"/>
            <a:ext cx="11903103" cy="901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36BF5D-F014-463C-9C93-5AE15B2CB6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-1"/>
            <a:ext cx="288896" cy="9017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A632A79-5A72-4289-AC42-1398C5BC6AED}"/>
              </a:ext>
            </a:extLst>
          </p:cNvPr>
          <p:cNvSpPr txBox="1"/>
          <p:nvPr/>
        </p:nvSpPr>
        <p:spPr>
          <a:xfrm>
            <a:off x="393700" y="220016"/>
            <a:ext cx="929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bg1"/>
                </a:solidFill>
                <a:latin typeface="Bahnschrift" panose="020B0502040204020203" pitchFamily="34" charset="0"/>
              </a:rPr>
              <a:t>GENERATION DES PDF : De la Donnée brute au Rapport Clair</a:t>
            </a:r>
            <a:endParaRPr lang="fr-FR" sz="2400" b="1" dirty="0">
              <a:solidFill>
                <a:schemeClr val="accent2"/>
              </a:solidFill>
              <a:latin typeface="Bahnschrift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A24342-A769-42B0-A55F-934EE4EC52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01696"/>
            <a:ext cx="12191998" cy="5956299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C871FC3B-68FA-427D-BBE9-344D5F2E3C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1103" y="1114403"/>
            <a:ext cx="5742001" cy="628665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25B59348-1780-437F-9BFA-73CECD23C5FC}"/>
              </a:ext>
            </a:extLst>
          </p:cNvPr>
          <p:cNvSpPr txBox="1"/>
          <p:nvPr/>
        </p:nvSpPr>
        <p:spPr>
          <a:xfrm>
            <a:off x="6319780" y="1197149"/>
            <a:ext cx="449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bg1"/>
                </a:solidFill>
                <a:latin typeface="Bahnschrift" panose="020B0502040204020203" pitchFamily="34" charset="0"/>
              </a:rPr>
              <a:t>Rapport Avancé</a:t>
            </a:r>
            <a:endParaRPr lang="fr-FR" sz="2400" b="1" dirty="0">
              <a:solidFill>
                <a:schemeClr val="accent2"/>
              </a:solidFill>
              <a:latin typeface="Bahnschrift" panose="020B0502040204020203" pitchFamily="34" charset="0"/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FAADBFE7-32F5-432C-A06A-8B9258D94A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1107" y="1743068"/>
            <a:ext cx="5741997" cy="4772032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38135CD9-996F-46FD-931D-900CA8568B67}"/>
              </a:ext>
            </a:extLst>
          </p:cNvPr>
          <p:cNvSpPr txBox="1"/>
          <p:nvPr/>
        </p:nvSpPr>
        <p:spPr>
          <a:xfrm>
            <a:off x="6319780" y="1955771"/>
            <a:ext cx="5092700" cy="429348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1200" i="1" dirty="0">
                <a:latin typeface="Bahnschrift" panose="020B0502040204020203" pitchFamily="34" charset="0"/>
              </a:rPr>
              <a:t>~ 6 pages |  Pour l’équipe technique</a:t>
            </a:r>
          </a:p>
          <a:p>
            <a:endParaRPr lang="fr-FR" sz="1600" dirty="0">
              <a:latin typeface="Bahnschrift" panose="020B0502040204020203" pitchFamily="34" charset="0"/>
            </a:endParaRPr>
          </a:p>
          <a:p>
            <a:r>
              <a:rPr lang="fr-FR" sz="1400" dirty="0">
                <a:latin typeface="Bahnschrift" panose="020B0502040204020203" pitchFamily="34" charset="0"/>
              </a:rPr>
              <a:t>Page 1 : Dashboard</a:t>
            </a:r>
          </a:p>
          <a:p>
            <a:r>
              <a:rPr lang="fr-FR" sz="1300" dirty="0">
                <a:latin typeface="Bahnschrift" panose="020B0502040204020203" pitchFamily="34" charset="0"/>
              </a:rPr>
              <a:t>Identique au rapport simple</a:t>
            </a:r>
          </a:p>
          <a:p>
            <a:endParaRPr lang="fr-FR" sz="1600" dirty="0">
              <a:latin typeface="Bahnschrift" panose="020B0502040204020203" pitchFamily="34" charset="0"/>
            </a:endParaRPr>
          </a:p>
          <a:p>
            <a:r>
              <a:rPr lang="fr-FR" sz="1400" dirty="0">
                <a:latin typeface="Bahnschrift" panose="020B0502040204020203" pitchFamily="34" charset="0"/>
              </a:rPr>
              <a:t>Page 2-3 : Résultats détaillés </a:t>
            </a:r>
          </a:p>
          <a:p>
            <a:r>
              <a:rPr lang="fr-FR" sz="1300" dirty="0">
                <a:latin typeface="Bahnschrift" panose="020B0502040204020203" pitchFamily="34" charset="0"/>
              </a:rPr>
              <a:t>Sorties commentées des outils</a:t>
            </a:r>
          </a:p>
          <a:p>
            <a:endParaRPr lang="fr-FR" sz="1300" dirty="0">
              <a:latin typeface="Bahnschrift" panose="020B0502040204020203" pitchFamily="34" charset="0"/>
            </a:endParaRPr>
          </a:p>
          <a:p>
            <a:r>
              <a:rPr lang="fr-FR" sz="1400" dirty="0">
                <a:latin typeface="Bahnschrift" panose="020B0502040204020203" pitchFamily="34" charset="0"/>
              </a:rPr>
              <a:t>Page 4 : Plan d’action</a:t>
            </a:r>
          </a:p>
          <a:p>
            <a:r>
              <a:rPr lang="fr-FR" sz="1300" dirty="0">
                <a:latin typeface="Bahnschrift" panose="020B0502040204020203" pitchFamily="34" charset="0"/>
              </a:rPr>
              <a:t>3 Niveaux : URGENCE / PRIORITE / AMELIORATION</a:t>
            </a:r>
          </a:p>
          <a:p>
            <a:endParaRPr lang="fr-FR" sz="1300" dirty="0">
              <a:latin typeface="Bahnschrift" panose="020B0502040204020203" pitchFamily="34" charset="0"/>
            </a:endParaRPr>
          </a:p>
          <a:p>
            <a:r>
              <a:rPr lang="fr-FR" sz="1400">
                <a:latin typeface="Bahnschrift"/>
              </a:rPr>
              <a:t>Page 5-6-7 : Méthodologie + lexique</a:t>
            </a:r>
          </a:p>
          <a:p>
            <a:r>
              <a:rPr lang="fr-FR" sz="1300" dirty="0">
                <a:latin typeface="Bahnschrift" panose="020B0502040204020203" pitchFamily="34" charset="0"/>
              </a:rPr>
              <a:t>Explication ANSSI + glossaire cybersécurité vulgarisé</a:t>
            </a:r>
          </a:p>
          <a:p>
            <a:endParaRPr lang="fr-FR" sz="1300" dirty="0">
              <a:latin typeface="Bahnschrift" panose="020B0502040204020203" pitchFamily="34" charset="0"/>
            </a:endParaRPr>
          </a:p>
          <a:p>
            <a:endParaRPr lang="fr-FR" sz="1300" dirty="0">
              <a:latin typeface="Bahnschrift" panose="020B0502040204020203" pitchFamily="34" charset="0"/>
            </a:endParaRPr>
          </a:p>
          <a:p>
            <a:endParaRPr lang="fr-FR" sz="1600" dirty="0">
              <a:latin typeface="Bahnschrift" panose="020B0502040204020203" pitchFamily="34" charset="0"/>
            </a:endParaRPr>
          </a:p>
          <a:p>
            <a:r>
              <a:rPr lang="fr-FR" sz="1400">
                <a:solidFill>
                  <a:srgbClr val="00B050"/>
                </a:solidFill>
                <a:latin typeface="Bahnschrift"/>
              </a:rPr>
              <a:t>Objectif : décision réfléchie</a:t>
            </a:r>
            <a:endParaRPr lang="fr-FR" sz="1400">
              <a:solidFill>
                <a:srgbClr val="00B050"/>
              </a:solidFill>
              <a:latin typeface="Bahnschrift" panose="020B0502040204020203" pitchFamily="34" charset="0"/>
            </a:endParaRPr>
          </a:p>
          <a:p>
            <a:r>
              <a:rPr lang="fr-FR" sz="1300" dirty="0">
                <a:latin typeface="Bahnschrift"/>
              </a:rPr>
              <a:t>Fournir à l'équipe technique une cartographie exhaustive des vulnérabilités avec un plan d'action </a:t>
            </a:r>
            <a:r>
              <a:rPr lang="fr-FR" sz="1300">
                <a:latin typeface="Bahnschrift"/>
              </a:rPr>
              <a:t>priorisé prêt à soumettre à la direction</a:t>
            </a:r>
            <a:endParaRPr lang="fr-FR" sz="1300">
              <a:latin typeface="Bahnschrift" panose="020B05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F0C87DC-C566-4214-B559-A76E1C837C1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449" y="1121715"/>
            <a:ext cx="1862151" cy="263472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C7716E7-23F6-4A35-86DA-165D09FF6C4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09902" y="1114403"/>
            <a:ext cx="1862151" cy="262905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987C578-2DC8-470D-B11D-997A00C3BF7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75355" y="1114403"/>
            <a:ext cx="1868698" cy="264203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3061630-2435-4E5D-A9B1-B3B7E591B7D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449" y="3879845"/>
            <a:ext cx="1860493" cy="263472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01D1EE0-CEEC-42A9-ABEF-3EC493FC537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09902" y="3879845"/>
            <a:ext cx="1860493" cy="263334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10437B8-D3F4-4695-BD35-0FA71BC7743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75356" y="3879845"/>
            <a:ext cx="1868698" cy="264536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B545DF1A-0495-40FF-96E9-4F325588EF8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29445" y="1955766"/>
            <a:ext cx="2641708" cy="1819387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A0143C8C-1810-4156-92A0-DCFB53F4AC99}"/>
              </a:ext>
            </a:extLst>
          </p:cNvPr>
          <p:cNvSpPr txBox="1"/>
          <p:nvPr/>
        </p:nvSpPr>
        <p:spPr>
          <a:xfrm>
            <a:off x="693998" y="3418178"/>
            <a:ext cx="7630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i="1" u="sng" dirty="0">
                <a:latin typeface="Bahnschrift" panose="020B0502040204020203" pitchFamily="34" charset="0"/>
              </a:rPr>
              <a:t>Page 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DF8AC69-3F97-42A1-A260-4964B9B390A2}"/>
              </a:ext>
            </a:extLst>
          </p:cNvPr>
          <p:cNvSpPr txBox="1"/>
          <p:nvPr/>
        </p:nvSpPr>
        <p:spPr>
          <a:xfrm>
            <a:off x="2658621" y="3418177"/>
            <a:ext cx="7630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i="1" u="sng" dirty="0">
                <a:latin typeface="Bahnschrift" panose="020B0502040204020203" pitchFamily="34" charset="0"/>
              </a:rPr>
              <a:t>Page 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9A219FF-5C0F-4453-A675-4090337D1490}"/>
              </a:ext>
            </a:extLst>
          </p:cNvPr>
          <p:cNvSpPr txBox="1"/>
          <p:nvPr/>
        </p:nvSpPr>
        <p:spPr>
          <a:xfrm>
            <a:off x="4628177" y="3418176"/>
            <a:ext cx="7630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i="1" u="sng" dirty="0">
                <a:latin typeface="Bahnschrift" panose="020B0502040204020203" pitchFamily="34" charset="0"/>
              </a:rPr>
              <a:t>Page 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5243598-3BA6-4613-B7D7-0CE62DDC9337}"/>
              </a:ext>
            </a:extLst>
          </p:cNvPr>
          <p:cNvSpPr txBox="1"/>
          <p:nvPr/>
        </p:nvSpPr>
        <p:spPr>
          <a:xfrm>
            <a:off x="693168" y="6153140"/>
            <a:ext cx="7630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i="1" u="sng" dirty="0">
                <a:latin typeface="Bahnschrift" panose="020B0502040204020203" pitchFamily="34" charset="0"/>
              </a:rPr>
              <a:t>Page 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6F4371A-D311-4A48-A83D-17765F47AD3B}"/>
              </a:ext>
            </a:extLst>
          </p:cNvPr>
          <p:cNvSpPr txBox="1"/>
          <p:nvPr/>
        </p:nvSpPr>
        <p:spPr>
          <a:xfrm>
            <a:off x="2699027" y="6153139"/>
            <a:ext cx="7630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i="1" u="sng" dirty="0">
                <a:latin typeface="Bahnschrift" panose="020B0502040204020203" pitchFamily="34" charset="0"/>
              </a:rPr>
              <a:t>Page 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3582748-6623-432A-A2A5-C8ECE39232FB}"/>
              </a:ext>
            </a:extLst>
          </p:cNvPr>
          <p:cNvSpPr txBox="1"/>
          <p:nvPr/>
        </p:nvSpPr>
        <p:spPr>
          <a:xfrm>
            <a:off x="4659556" y="6153139"/>
            <a:ext cx="7630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i="1" u="sng" dirty="0">
                <a:latin typeface="Bahnschrift" panose="020B0502040204020203" pitchFamily="34" charset="0"/>
              </a:rPr>
              <a:t>Page 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A566003-1574-4AE3-9CDE-CD194B93BC08}"/>
              </a:ext>
            </a:extLst>
          </p:cNvPr>
          <p:cNvSpPr txBox="1"/>
          <p:nvPr/>
        </p:nvSpPr>
        <p:spPr>
          <a:xfrm>
            <a:off x="9955380" y="3571427"/>
            <a:ext cx="7630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i="1" u="sng" dirty="0">
                <a:latin typeface="Bahnschrift" panose="020B0502040204020203" pitchFamily="34" charset="0"/>
              </a:rPr>
              <a:t>Page 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519648-B610-A4C2-86EB-EDAB8785191E}"/>
              </a:ext>
            </a:extLst>
          </p:cNvPr>
          <p:cNvSpPr txBox="1"/>
          <p:nvPr/>
        </p:nvSpPr>
        <p:spPr>
          <a:xfrm>
            <a:off x="11542980" y="6511636"/>
            <a:ext cx="274319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10/12</a:t>
            </a:r>
          </a:p>
        </p:txBody>
      </p:sp>
    </p:spTree>
    <p:extLst>
      <p:ext uri="{BB962C8B-B14F-4D97-AF65-F5344CB8AC3E}">
        <p14:creationId xmlns:p14="http://schemas.microsoft.com/office/powerpoint/2010/main" val="847829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4A4946E-2275-494E-B4F2-0BE90C8CB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896" y="0"/>
            <a:ext cx="11903103" cy="901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6815BA-7F4C-48BB-AA0B-C65590AA3C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-1"/>
            <a:ext cx="288896" cy="9017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161991-5CC6-47A5-AEF2-C767B72F0FF4}"/>
              </a:ext>
            </a:extLst>
          </p:cNvPr>
          <p:cNvSpPr txBox="1"/>
          <p:nvPr/>
        </p:nvSpPr>
        <p:spPr>
          <a:xfrm>
            <a:off x="393700" y="220016"/>
            <a:ext cx="929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bg1"/>
                </a:solidFill>
                <a:latin typeface="Bahnschrift" panose="020B0502040204020203" pitchFamily="34" charset="0"/>
              </a:rPr>
              <a:t>DEMONSTRATION – Scan en Direct sur un site-test</a:t>
            </a:r>
            <a:endParaRPr lang="fr-FR" sz="2400" b="1" dirty="0">
              <a:solidFill>
                <a:schemeClr val="accent2"/>
              </a:solidFill>
              <a:latin typeface="Bahnschrift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F00981-D873-40B9-96CA-4DA1614883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01696"/>
            <a:ext cx="12191998" cy="5956299"/>
          </a:xfrm>
          <a:prstGeom prst="rect">
            <a:avLst/>
          </a:prstGeom>
        </p:spPr>
      </p:pic>
      <p:pic>
        <p:nvPicPr>
          <p:cNvPr id="2" name="Online Media 1" title="BouzuSec Site Test">
            <a:hlinkClick r:id="" action="ppaction://media"/>
            <a:extLst>
              <a:ext uri="{FF2B5EF4-FFF2-40B4-BE49-F238E27FC236}">
                <a16:creationId xmlns:a16="http://schemas.microsoft.com/office/drawing/2014/main" id="{407645A6-58AF-419A-A8E7-3D4612C79A8C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6"/>
          <a:stretch>
            <a:fillRect/>
          </a:stretch>
        </p:blipFill>
        <p:spPr>
          <a:xfrm>
            <a:off x="889971" y="938439"/>
            <a:ext cx="10412055" cy="588281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1EB0630-8C79-A7A2-3A97-B12B8A0FD0A0}"/>
              </a:ext>
            </a:extLst>
          </p:cNvPr>
          <p:cNvSpPr txBox="1"/>
          <p:nvPr/>
        </p:nvSpPr>
        <p:spPr>
          <a:xfrm>
            <a:off x="11542980" y="6511636"/>
            <a:ext cx="274319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11/12</a:t>
            </a:r>
          </a:p>
        </p:txBody>
      </p:sp>
    </p:spTree>
    <p:extLst>
      <p:ext uri="{BB962C8B-B14F-4D97-AF65-F5344CB8AC3E}">
        <p14:creationId xmlns:p14="http://schemas.microsoft.com/office/powerpoint/2010/main" val="800213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DC54A26-8164-40AB-A646-240DAC04D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898" y="0"/>
            <a:ext cx="6014696" cy="68605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1EB293-377B-4544-AF9B-5C0FA2401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288897" cy="68580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109CF9-9C8F-48C2-B494-87900DAF3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525737"/>
            <a:ext cx="4152900" cy="43946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447DA36-2B24-476F-976F-91415A073C17}"/>
              </a:ext>
            </a:extLst>
          </p:cNvPr>
          <p:cNvSpPr txBox="1"/>
          <p:nvPr/>
        </p:nvSpPr>
        <p:spPr>
          <a:xfrm>
            <a:off x="660400" y="1143000"/>
            <a:ext cx="4483100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 dirty="0">
                <a:solidFill>
                  <a:schemeClr val="bg1"/>
                </a:solidFill>
                <a:latin typeface="Bahnschrift" panose="020B0502040204020203" pitchFamily="34" charset="0"/>
              </a:rPr>
              <a:t>BouzuSec</a:t>
            </a:r>
          </a:p>
          <a:p>
            <a:r>
              <a:rPr lang="fr-FR" sz="6000" b="1" dirty="0">
                <a:solidFill>
                  <a:schemeClr val="accent2"/>
                </a:solidFill>
                <a:latin typeface="Bahnschrift" panose="020B0502040204020203" pitchFamily="34" charset="0"/>
              </a:rPr>
              <a:t>Scanner</a:t>
            </a:r>
          </a:p>
          <a:p>
            <a:endParaRPr lang="fr-FR" sz="3200" b="1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r>
              <a:rPr lang="fr-FR" sz="3600" b="1" dirty="0">
                <a:solidFill>
                  <a:schemeClr val="bg1"/>
                </a:solidFill>
                <a:latin typeface="Bahnschrift" panose="020B0502040204020203" pitchFamily="34" charset="0"/>
              </a:rPr>
              <a:t>Conclusion</a:t>
            </a:r>
          </a:p>
          <a:p>
            <a:endParaRPr lang="fr-FR" sz="3600" b="1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r>
              <a:rPr lang="fr-FR" sz="2000" b="1" dirty="0">
                <a:solidFill>
                  <a:schemeClr val="bg1"/>
                </a:solidFill>
                <a:latin typeface="Bahnschrift" panose="020B0502040204020203" pitchFamily="34" charset="0"/>
              </a:rPr>
              <a:t>- Réponse à 100% à l’appel d’offre</a:t>
            </a:r>
          </a:p>
          <a:p>
            <a:r>
              <a:rPr lang="fr-FR" sz="2000" b="1" dirty="0">
                <a:solidFill>
                  <a:schemeClr val="bg1"/>
                </a:solidFill>
                <a:latin typeface="Bahnschrift" panose="020B0502040204020203" pitchFamily="34" charset="0"/>
              </a:rPr>
              <a:t>- Vulgarisation réussie</a:t>
            </a:r>
          </a:p>
          <a:p>
            <a:r>
              <a:rPr lang="fr-FR" sz="2000" b="1" dirty="0">
                <a:solidFill>
                  <a:schemeClr val="bg1"/>
                </a:solidFill>
                <a:latin typeface="Bahnschrift" panose="020B0502040204020203" pitchFamily="34" charset="0"/>
              </a:rPr>
              <a:t>- Standard ANSSI</a:t>
            </a:r>
          </a:p>
          <a:p>
            <a:r>
              <a:rPr lang="fr-FR" sz="2000" b="1" dirty="0">
                <a:solidFill>
                  <a:schemeClr val="bg1"/>
                </a:solidFill>
                <a:latin typeface="Bahnschrift" panose="020B0502040204020203" pitchFamily="34" charset="0"/>
              </a:rPr>
              <a:t>- Génération PDF automatisée</a:t>
            </a:r>
          </a:p>
          <a:p>
            <a:r>
              <a:rPr lang="fr-FR" sz="2000" b="1" dirty="0">
                <a:solidFill>
                  <a:schemeClr val="bg1"/>
                </a:solidFill>
                <a:latin typeface="Bahnschrift" panose="020B0502040204020203" pitchFamily="34" charset="0"/>
              </a:rPr>
              <a:t>- Déploiement Simplifié</a:t>
            </a:r>
          </a:p>
          <a:p>
            <a:r>
              <a:rPr lang="fr-FR" sz="2000" b="1" dirty="0">
                <a:solidFill>
                  <a:srgbClr val="00B050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 De futurs implémentations</a:t>
            </a:r>
            <a:endParaRPr lang="fr-FR" sz="2000" b="1" dirty="0">
              <a:solidFill>
                <a:srgbClr val="00B050"/>
              </a:solidFill>
              <a:latin typeface="Bahnschrift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4BC312-7460-47AC-9578-50ABE80FE7AE}"/>
              </a:ext>
            </a:extLst>
          </p:cNvPr>
          <p:cNvSpPr txBox="1"/>
          <p:nvPr/>
        </p:nvSpPr>
        <p:spPr>
          <a:xfrm>
            <a:off x="1455722" y="568496"/>
            <a:ext cx="25622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bg1"/>
                </a:solidFill>
                <a:latin typeface="Bahnschrift" panose="020B0502040204020203" pitchFamily="34" charset="0"/>
              </a:rPr>
              <a:t>SOUTENANCE – SAE 401</a:t>
            </a:r>
            <a:endParaRPr lang="fr-FR" sz="1600" b="1" dirty="0">
              <a:solidFill>
                <a:schemeClr val="accent2"/>
              </a:solidFill>
              <a:latin typeface="Bahnschrift" panose="020B0502040204020203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7C5ECA5-10B1-49EF-8767-9075DC19FE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3593" y="0"/>
            <a:ext cx="58804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51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908</Words>
  <Application>Microsoft Office PowerPoint</Application>
  <PresentationFormat>Widescreen</PresentationFormat>
  <Paragraphs>250</Paragraphs>
  <Slides>12</Slides>
  <Notes>0</Notes>
  <HiddenSlides>0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johan djodjo</dc:creator>
  <cp:lastModifiedBy>johan djodjo</cp:lastModifiedBy>
  <cp:revision>96</cp:revision>
  <dcterms:created xsi:type="dcterms:W3CDTF">2026-03-29T13:26:17Z</dcterms:created>
  <dcterms:modified xsi:type="dcterms:W3CDTF">2026-03-30T08:22:40Z</dcterms:modified>
</cp:coreProperties>
</file>